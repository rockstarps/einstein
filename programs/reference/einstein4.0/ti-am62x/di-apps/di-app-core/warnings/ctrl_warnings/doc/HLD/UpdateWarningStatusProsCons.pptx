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8450" r:id="rId2"/>
    <p:sldId id="21474784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D0026-92D5-4505-8973-44A3DC854F9B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B438C-F156-40F4-BEEC-3AA172CF5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118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2D1B-941A-662F-62C2-B0EB8DB82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740D4-6A94-5136-1DE8-DD666FF03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C3776-DDEA-6714-1540-5EDBEEA31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5689D-51A5-85AE-228E-5AB10ABD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EC7D7-F70D-A083-81EB-C86858F4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1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B122-440A-E468-F80A-E4ED468A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F36A-9194-195C-35B1-5926AFA40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3EDAF-B732-CA41-54CC-A0AC1422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EFB87-5B17-0C63-E0FC-B5C3F029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35623-1763-AAFE-3B79-831E86CF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1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2EDC-8B87-8645-66C5-1C3900C9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969F4-CDD6-AC49-49B4-A33F0DB9F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B017-0FDD-C9EC-46C9-D702E0B4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9ED09-FE60-3ABE-9642-FBD5132F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BF527-80BF-8E63-5606-7671DDA8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3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2EA1-04F1-CE04-D3A1-0E232412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2B842-DC70-7A86-E27B-0768045B1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EB95E-7F60-86E3-D706-04C36B3BC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C69CD-F164-4DDC-9503-71A62D08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4E74B-4920-1A4C-B4BC-CACF9F35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DBEB4-4BB0-A2D9-4A44-FA98A6E5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1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0496-E1DC-19EF-648A-B9C405E2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8B6D7-1836-5B84-3F3D-0E431FC6B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D024E-3337-9A21-3A08-F688E8474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2DC8F-3039-AEC2-DBCA-81140655A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1CFCA5-7871-8AAE-53B2-811B80B6D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B9A85F-7A86-5861-28C4-4B199E64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D74A7E-B6E9-056A-EB46-5CCB58B9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755C4-A303-8353-B471-BD0216B3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2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3F85-53AA-6249-8016-AB66F49E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91EA8-D6FD-B7CB-7BA6-29D40775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8AA37-78C4-ECE9-8FEE-81C8F831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D21C2-1A56-890F-D17C-5F2B4118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6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E39AD-9D3A-EF9C-F36A-303F07E1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D49CD-2FEE-5B66-C8A3-872E48D5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1D036-121B-4D8C-2FBE-B7EF3F59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3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3B77-A156-3172-66E1-44C5876E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D88F7-C51C-2AF0-C8FC-8C5C60B42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AC035-9171-0938-2AD5-FAD8BBD74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35C34-B9B7-0C8B-EEEA-28FAB87A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6594B-85FC-5DDE-A557-FB5337B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43E66-C05B-84AD-78F7-2FE8BA5D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6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ADCF6-E971-5391-CEBA-53F4C8DD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1A8658-13C5-A163-9E8B-AEE396CD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FD0AD-03F9-0EE0-F6B0-8DCEE8DC8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1CC7A-E9DB-136B-1F1E-E95FF531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39BEE-B8D6-C302-B209-72034A90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6F14B-BF1C-6E7A-4403-81C1E4C5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2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F622-C7E3-3F16-32E8-FA4719ACA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13FAE-0E6B-CE24-F832-077A7C615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16251-8B3C-CE59-EF16-5811ADFB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A4668-42E3-D1C2-6CF4-1CFADADD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B24D-BCC2-C8C0-22E1-96B67CA3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58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9471D-422C-B826-84F7-2AD567827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B4DF4-8D2A-B563-D191-FDFC6444D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76602-8F54-78EE-9085-705787E8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4FD84-3674-53EA-67BB-8F2E73A4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93F4B-4456-6C97-193A-472D95DB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77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gradFill rotWithShape="0">
          <a:gsLst>
            <a:gs pos="0">
              <a:srgbClr val="01092E"/>
            </a:gs>
            <a:gs pos="77000">
              <a:srgbClr val="0D4171"/>
            </a:gs>
            <a:gs pos="100000">
              <a:srgbClr val="115B99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5CA1DD85-86B2-4D68-E180-C441954E97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F226B8-0611-05C4-70BC-CB709C43F3BE}"/>
              </a:ext>
            </a:extLst>
          </p:cNvPr>
          <p:cNvSpPr/>
          <p:nvPr userDrawn="1"/>
        </p:nvSpPr>
        <p:spPr>
          <a:xfrm rot="10800000">
            <a:off x="27171" y="0"/>
            <a:ext cx="12192000" cy="6858000"/>
          </a:xfrm>
          <a:prstGeom prst="rect">
            <a:avLst/>
          </a:prstGeom>
          <a:gradFill>
            <a:gsLst>
              <a:gs pos="77000">
                <a:srgbClr val="0D4171">
                  <a:alpha val="67266"/>
                </a:srgbClr>
              </a:gs>
              <a:gs pos="100000">
                <a:srgbClr val="115B99">
                  <a:alpha val="25000"/>
                </a:srgbClr>
              </a:gs>
              <a:gs pos="0">
                <a:srgbClr val="01092E">
                  <a:alpha val="41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228C47-FDC4-773B-DD9D-B68C4D16E2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0" y="376238"/>
            <a:ext cx="91440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3885A5-1EE9-131B-A8B2-C93855227337}"/>
              </a:ext>
            </a:extLst>
          </p:cNvPr>
          <p:cNvCxnSpPr/>
          <p:nvPr userDrawn="1"/>
        </p:nvCxnSpPr>
        <p:spPr>
          <a:xfrm>
            <a:off x="10934700" y="261938"/>
            <a:ext cx="914400" cy="0"/>
          </a:xfrm>
          <a:prstGeom prst="line">
            <a:avLst/>
          </a:prstGeom>
          <a:ln w="25400" cap="rnd">
            <a:solidFill>
              <a:srgbClr val="F491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38" y="203447"/>
            <a:ext cx="10515600" cy="628649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5BAE88-5808-B2A8-A5C0-9A7E262C02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11705EC-BA41-15D8-E9EE-E240BF6B4C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9688" y="6492875"/>
            <a:ext cx="722312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B72EB4-401C-4424-A064-EA4103DA27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49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867DBD-8E47-3ABF-1324-281DCF11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0F455-00AC-0A4A-4EBC-1685712DF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D26EC-DED9-C804-D3CA-821A183F2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E1349-520E-412B-B5A9-566574F8F131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FA565-2B15-A6BE-BF2C-A195FB04B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E32FE-08F5-EC97-8BAF-4D12213B9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3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visteon.atlassian.net/browse/TFDCX32348-26058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>
            <a:extLst>
              <a:ext uri="{FF2B5EF4-FFF2-40B4-BE49-F238E27FC236}">
                <a16:creationId xmlns:a16="http://schemas.microsoft.com/office/drawing/2014/main" id="{DAA3DC1A-1FD2-BF83-C089-617810443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722"/>
            <a:ext cx="12269235" cy="6901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Graphic 4">
            <a:extLst>
              <a:ext uri="{FF2B5EF4-FFF2-40B4-BE49-F238E27FC236}">
                <a16:creationId xmlns:a16="http://schemas.microsoft.com/office/drawing/2014/main" id="{58FD56EC-D437-772D-2459-343358FDD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695571"/>
            <a:ext cx="3902338" cy="761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B1D9DA-8D63-6D36-399A-4C2B91F3C3C1}"/>
              </a:ext>
            </a:extLst>
          </p:cNvPr>
          <p:cNvSpPr txBox="1">
            <a:spLocks noChangeArrowheads="1"/>
          </p:cNvSpPr>
          <p:nvPr/>
        </p:nvSpPr>
        <p:spPr>
          <a:xfrm>
            <a:off x="527050" y="2376608"/>
            <a:ext cx="8456529" cy="8447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FFFF"/>
                </a:solidFill>
              </a:rPr>
              <a:t>Update Warning Status – Pros and Cons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05AF-8344-A402-B1C1-3E497D16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203448"/>
            <a:ext cx="10078608" cy="47205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Pros and cons of using </a:t>
            </a:r>
            <a:r>
              <a:rPr lang="en-US" dirty="0" err="1">
                <a:solidFill>
                  <a:srgbClr val="FFFFFF"/>
                </a:solidFill>
              </a:rPr>
              <a:t>UpdateWarningStatus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9B5126-CA22-E990-D9C2-1EB7B0E41CA7}"/>
              </a:ext>
            </a:extLst>
          </p:cNvPr>
          <p:cNvSpPr txBox="1">
            <a:spLocks/>
          </p:cNvSpPr>
          <p:nvPr/>
        </p:nvSpPr>
        <p:spPr>
          <a:xfrm>
            <a:off x="245310" y="675504"/>
            <a:ext cx="9456049" cy="286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rgbClr val="FFFFFF"/>
                </a:solidFill>
              </a:rPr>
              <a:t>Task Id: </a:t>
            </a:r>
            <a:r>
              <a:rPr lang="en-US" sz="1200" dirty="0">
                <a:solidFill>
                  <a:srgbClr val="FFFFFF"/>
                </a:solidFill>
                <a:hlinkClick r:id="rId2"/>
              </a:rPr>
              <a:t>TFDCX32348-26058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505CC61-B080-47C5-35A9-6F9088541DE2}"/>
              </a:ext>
            </a:extLst>
          </p:cNvPr>
          <p:cNvSpPr txBox="1">
            <a:spLocks/>
          </p:cNvSpPr>
          <p:nvPr/>
        </p:nvSpPr>
        <p:spPr>
          <a:xfrm>
            <a:off x="943265" y="5482780"/>
            <a:ext cx="8563554" cy="699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0" i="0" dirty="0">
                <a:solidFill>
                  <a:schemeClr val="bg1"/>
                </a:solidFill>
                <a:effectLst/>
                <a:latin typeface="Inter"/>
              </a:rPr>
              <a:t>Proceeding with the current interface that has the payload as that is the Platform Interface as per Hyundai UCL catalogue.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DE4694-1B12-934F-9F1E-731287B341D2}"/>
              </a:ext>
            </a:extLst>
          </p:cNvPr>
          <p:cNvSpPr txBox="1">
            <a:spLocks/>
          </p:cNvSpPr>
          <p:nvPr/>
        </p:nvSpPr>
        <p:spPr>
          <a:xfrm>
            <a:off x="397709" y="1214650"/>
            <a:ext cx="10465097" cy="4098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0" i="0" dirty="0">
                <a:solidFill>
                  <a:schemeClr val="bg1"/>
                </a:solidFill>
                <a:effectLst/>
                <a:latin typeface="Inter"/>
              </a:rPr>
              <a:t>Pros :</a:t>
            </a:r>
          </a:p>
          <a:p>
            <a:pPr algn="l"/>
            <a:r>
              <a:rPr lang="en-US" sz="1400" b="0" i="0" dirty="0">
                <a:solidFill>
                  <a:schemeClr val="bg1"/>
                </a:solidFill>
                <a:effectLst/>
                <a:latin typeface="Inter"/>
              </a:rPr>
              <a:t>1. The setting/clearing of warnings, the event type and payload can be conveyed in a single interface. </a:t>
            </a:r>
          </a:p>
          <a:p>
            <a:pPr algn="l"/>
            <a:r>
              <a:rPr lang="en-US" sz="1400" b="0" i="0" dirty="0">
                <a:solidFill>
                  <a:schemeClr val="bg1"/>
                </a:solidFill>
                <a:effectLst/>
                <a:latin typeface="Inter"/>
              </a:rPr>
              <a:t>2. </a:t>
            </a:r>
            <a:r>
              <a:rPr lang="en-US" sz="1400" dirty="0">
                <a:solidFill>
                  <a:schemeClr val="bg1"/>
                </a:solidFill>
                <a:latin typeface="Inter"/>
              </a:rPr>
              <a:t>Single RTE across all waring components leads to less conflicts.</a:t>
            </a:r>
            <a:endParaRPr lang="en-US" sz="1400" b="0" i="0" dirty="0">
              <a:solidFill>
                <a:schemeClr val="bg1"/>
              </a:solidFill>
              <a:effectLst/>
              <a:latin typeface="Inter"/>
            </a:endParaRPr>
          </a:p>
          <a:p>
            <a:pPr algn="l"/>
            <a:r>
              <a:rPr lang="en-US" sz="1400" b="0" i="0" dirty="0">
                <a:solidFill>
                  <a:schemeClr val="bg1"/>
                </a:solidFill>
                <a:effectLst/>
                <a:latin typeface="Inter"/>
              </a:rPr>
              <a:t>3. Single array in the Control warning side leading to easy readability for HMI and also for debugging purpose.</a:t>
            </a:r>
          </a:p>
          <a:p>
            <a:pPr algn="l"/>
            <a:r>
              <a:rPr lang="en-US" sz="1400" dirty="0">
                <a:solidFill>
                  <a:schemeClr val="bg1"/>
                </a:solidFill>
                <a:latin typeface="Inter"/>
              </a:rPr>
              <a:t>4. No multiple interfaces for clearing, setting with event and payload data.</a:t>
            </a:r>
            <a:endParaRPr lang="en-US" sz="1400" b="0" i="0" dirty="0">
              <a:solidFill>
                <a:schemeClr val="bg1"/>
              </a:solidFill>
              <a:effectLst/>
              <a:latin typeface="Inter"/>
            </a:endParaRPr>
          </a:p>
          <a:p>
            <a:pPr algn="l"/>
            <a:endParaRPr lang="en-US" sz="1400" b="0" i="0" dirty="0">
              <a:solidFill>
                <a:schemeClr val="bg1"/>
              </a:solidFill>
              <a:effectLst/>
              <a:latin typeface="Inter"/>
            </a:endParaRPr>
          </a:p>
          <a:p>
            <a:pPr algn="l"/>
            <a:r>
              <a:rPr lang="en-US" sz="1200" b="0" i="0" dirty="0">
                <a:solidFill>
                  <a:schemeClr val="bg1"/>
                </a:solidFill>
                <a:effectLst/>
                <a:latin typeface="Inter"/>
              </a:rPr>
              <a:t>Cons:</a:t>
            </a:r>
          </a:p>
          <a:p>
            <a:pPr algn="l"/>
            <a:r>
              <a:rPr lang="en-US" sz="1200" b="0" i="0" dirty="0">
                <a:solidFill>
                  <a:schemeClr val="bg1"/>
                </a:solidFill>
                <a:effectLst/>
                <a:latin typeface="Inter"/>
              </a:rPr>
              <a:t>1. Warnings that have no payload or event will pass those arguments with invalid data.</a:t>
            </a:r>
          </a:p>
          <a:p>
            <a:pPr algn="l"/>
            <a:r>
              <a:rPr lang="en-US" sz="1200" b="0" i="0" dirty="0">
                <a:solidFill>
                  <a:schemeClr val="bg1"/>
                </a:solidFill>
                <a:effectLst/>
                <a:latin typeface="Inter"/>
              </a:rPr>
              <a:t>2. The payload size is currently limited to 32bit, any additional data beyond this will need a separate interface.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Inter"/>
              </a:rPr>
              <a:t>3. The Payload is not used currently in Toyota and hence 2KB of memory is unnecessarily occupied. Hence payload argument can to be removed.</a:t>
            </a:r>
            <a:endParaRPr lang="en-US" sz="1200" b="0" i="0" dirty="0">
              <a:solidFill>
                <a:schemeClr val="bg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10977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179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Bahnschrift</vt:lpstr>
      <vt:lpstr>Calibri</vt:lpstr>
      <vt:lpstr>Calibri Light</vt:lpstr>
      <vt:lpstr>Inter</vt:lpstr>
      <vt:lpstr>Office Theme</vt:lpstr>
      <vt:lpstr>PowerPoint Presentation</vt:lpstr>
      <vt:lpstr>Pros and cons of using UpdateWarningStatus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Raguraman, Yogeshwaran (Y.)</dc:creator>
  <cp:lastModifiedBy>R K, Vaidyanath (V.)</cp:lastModifiedBy>
  <cp:revision>22</cp:revision>
  <dcterms:created xsi:type="dcterms:W3CDTF">2024-02-12T08:47:17Z</dcterms:created>
  <dcterms:modified xsi:type="dcterms:W3CDTF">2024-06-18T06:15:43Z</dcterms:modified>
</cp:coreProperties>
</file>