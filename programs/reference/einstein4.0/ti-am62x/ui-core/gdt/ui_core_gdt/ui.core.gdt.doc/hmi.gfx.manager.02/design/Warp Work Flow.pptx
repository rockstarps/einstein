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84" r:id="rId1"/>
  </p:sldMasterIdLst>
  <p:notesMasterIdLst>
    <p:notesMasterId r:id="rId10"/>
  </p:notesMasterIdLst>
  <p:sldIdLst>
    <p:sldId id="284" r:id="rId2"/>
    <p:sldId id="262" r:id="rId3"/>
    <p:sldId id="272" r:id="rId4"/>
    <p:sldId id="286" r:id="rId5"/>
    <p:sldId id="279" r:id="rId6"/>
    <p:sldId id="285" r:id="rId7"/>
    <p:sldId id="287" r:id="rId8"/>
    <p:sldId id="268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/>
    </p:ext>
    <p:ext uri="{2D200454-40CA-4A62-9FC3-DE9A4176ACB9}">
      <p15:notesGuideLst xmlns=""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DE433"/>
    <a:srgbClr val="85C23C"/>
    <a:srgbClr val="000000"/>
    <a:srgbClr val="D85841"/>
    <a:srgbClr val="F1EB5D"/>
    <a:srgbClr val="9ACC5B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=""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762" autoAdjust="0"/>
    <p:restoredTop sz="58730" autoAdjust="0"/>
  </p:normalViewPr>
  <p:slideViewPr>
    <p:cSldViewPr snapToGrid="0">
      <p:cViewPr varScale="1">
        <p:scale>
          <a:sx n="62" d="100"/>
          <a:sy n="62" d="100"/>
        </p:scale>
        <p:origin x="-1038" y="-9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-6534"/>
    </p:cViewPr>
  </p:sorterViewPr>
  <p:notesViewPr>
    <p:cSldViewPr snapToGrid="0">
      <p:cViewPr varScale="1">
        <p:scale>
          <a:sx n="54" d="100"/>
          <a:sy n="54" d="100"/>
        </p:scale>
        <p:origin x="2004" y="7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BA147E4-5C00-4CC3-BF74-560249838E12}" type="datetimeFigureOut">
              <a:rPr lang="en-US" smtClean="0"/>
              <a:t>10/17/2016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A4DDDE4-9187-44B0-97DD-18729EC05F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88212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4DDDE4-9187-44B0-97DD-18729EC05F41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077287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 * input file format</a:t>
            </a:r>
          </a:p>
          <a:p>
            <a:r>
              <a:rPr lang="en-US" dirty="0" smtClean="0"/>
              <a:t>  The input file should be provided as a ASCII text file.</a:t>
            </a:r>
          </a:p>
          <a:p>
            <a:r>
              <a:rPr lang="en-US" dirty="0" smtClean="0"/>
              <a:t>  The first line in the file will contain 4 integer values, respectively :</a:t>
            </a:r>
          </a:p>
          <a:p>
            <a:r>
              <a:rPr lang="en-US" dirty="0" smtClean="0"/>
              <a:t>      </a:t>
            </a:r>
            <a:r>
              <a:rPr lang="en-US" dirty="0" err="1" smtClean="0"/>
              <a:t>image_width</a:t>
            </a:r>
            <a:r>
              <a:rPr lang="en-US" dirty="0" smtClean="0"/>
              <a:t> </a:t>
            </a:r>
            <a:r>
              <a:rPr lang="en-US" dirty="0" err="1" smtClean="0"/>
              <a:t>image_height</a:t>
            </a:r>
            <a:r>
              <a:rPr lang="en-US" dirty="0" smtClean="0"/>
              <a:t> </a:t>
            </a:r>
            <a:r>
              <a:rPr lang="en-US" dirty="0" err="1" smtClean="0"/>
              <a:t>grid_column_nb</a:t>
            </a:r>
            <a:r>
              <a:rPr lang="en-US" dirty="0" smtClean="0"/>
              <a:t> </a:t>
            </a:r>
            <a:r>
              <a:rPr lang="en-US" dirty="0" err="1" smtClean="0"/>
              <a:t>grid_row_nb</a:t>
            </a:r>
            <a:endParaRPr lang="en-US" dirty="0" smtClean="0"/>
          </a:p>
          <a:p>
            <a:r>
              <a:rPr lang="en-US" dirty="0" smtClean="0"/>
              <a:t>  The following lines, one for each point of the grid, i.e. (</a:t>
            </a:r>
            <a:r>
              <a:rPr lang="en-US" dirty="0" err="1" smtClean="0"/>
              <a:t>grid_column_nb</a:t>
            </a:r>
            <a:r>
              <a:rPr lang="en-US" dirty="0" smtClean="0"/>
              <a:t> * </a:t>
            </a:r>
            <a:r>
              <a:rPr lang="en-US" dirty="0" err="1" smtClean="0"/>
              <a:t>grid_row_nb</a:t>
            </a:r>
            <a:r>
              <a:rPr lang="en-US" dirty="0" smtClean="0"/>
              <a:t>) lines, will each contain 4 numbers (integers or floats), respectively :</a:t>
            </a:r>
          </a:p>
          <a:p>
            <a:r>
              <a:rPr lang="en-US" dirty="0" smtClean="0"/>
              <a:t>      </a:t>
            </a:r>
            <a:r>
              <a:rPr lang="en-US" dirty="0" err="1" smtClean="0"/>
              <a:t>source_point_x</a:t>
            </a:r>
            <a:r>
              <a:rPr lang="en-US" dirty="0" smtClean="0"/>
              <a:t> </a:t>
            </a:r>
            <a:r>
              <a:rPr lang="en-US" dirty="0" err="1" smtClean="0"/>
              <a:t>source_point_y</a:t>
            </a:r>
            <a:r>
              <a:rPr lang="en-US" dirty="0" smtClean="0"/>
              <a:t> </a:t>
            </a:r>
            <a:r>
              <a:rPr lang="en-US" dirty="0" err="1" smtClean="0"/>
              <a:t>target_point_x</a:t>
            </a:r>
            <a:r>
              <a:rPr lang="en-US" dirty="0" smtClean="0"/>
              <a:t> </a:t>
            </a:r>
            <a:r>
              <a:rPr lang="en-US" dirty="0" err="1" smtClean="0"/>
              <a:t>target_point_y</a:t>
            </a:r>
            <a:endParaRPr lang="en-US" dirty="0" smtClean="0"/>
          </a:p>
          <a:p>
            <a:r>
              <a:rPr lang="en-US" dirty="0" smtClean="0"/>
              <a:t>      * example input file 100x60 image, with grid of 3x2 points :</a:t>
            </a:r>
          </a:p>
          <a:p>
            <a:endParaRPr lang="en-US" dirty="0" smtClean="0"/>
          </a:p>
          <a:p>
            <a:r>
              <a:rPr lang="en-US" dirty="0" smtClean="0"/>
              <a:t>      100 60 3 2</a:t>
            </a:r>
          </a:p>
          <a:p>
            <a:r>
              <a:rPr lang="en-US" dirty="0" smtClean="0"/>
              <a:t>      10 10 8.2 9.1</a:t>
            </a:r>
          </a:p>
          <a:p>
            <a:r>
              <a:rPr lang="en-US" dirty="0" smtClean="0"/>
              <a:t>      30 10 32.65 9.8</a:t>
            </a:r>
          </a:p>
          <a:p>
            <a:r>
              <a:rPr lang="en-US" dirty="0" smtClean="0"/>
              <a:t>      50 10 48.63 9.25</a:t>
            </a:r>
          </a:p>
          <a:p>
            <a:r>
              <a:rPr lang="en-US" dirty="0" smtClean="0"/>
              <a:t>      10 30 8.6 27.2</a:t>
            </a:r>
          </a:p>
          <a:p>
            <a:r>
              <a:rPr lang="en-US" dirty="0" smtClean="0"/>
              <a:t>      30 30 31.6 28.4</a:t>
            </a:r>
          </a:p>
          <a:p>
            <a:r>
              <a:rPr lang="en-US" dirty="0" smtClean="0"/>
              <a:t>      50 30 47.95 27.93</a:t>
            </a:r>
          </a:p>
          <a:p>
            <a:endParaRPr lang="en-US" dirty="0" smtClean="0"/>
          </a:p>
          <a:p>
            <a:r>
              <a:rPr lang="en-US" dirty="0" smtClean="0"/>
              <a:t>      the grid coordinates should be "ordered" consistently, e.g. scanning grid points left to right, top to bottom.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4DDDE4-9187-44B0-97DD-18729EC05F41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636811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Aft>
                <a:spcPts val="0"/>
              </a:spcAft>
            </a:pPr>
            <a:r>
              <a:rPr lang="fr-FR" sz="1200" dirty="0" smtClean="0">
                <a:ea typeface="Calibri"/>
                <a:cs typeface="Times New Roman"/>
              </a:rPr>
              <a:t>This buffer </a:t>
            </a:r>
            <a:r>
              <a:rPr lang="fr-FR" sz="1200" dirty="0" err="1" smtClean="0">
                <a:ea typeface="Calibri"/>
                <a:cs typeface="Times New Roman"/>
              </a:rPr>
              <a:t>specifies</a:t>
            </a:r>
            <a:r>
              <a:rPr lang="fr-FR" sz="1200" dirty="0" smtClean="0">
                <a:ea typeface="Calibri"/>
                <a:cs typeface="Times New Roman"/>
              </a:rPr>
              <a:t> for </a:t>
            </a:r>
            <a:r>
              <a:rPr lang="fr-FR" sz="1200" dirty="0" err="1" smtClean="0">
                <a:ea typeface="Calibri"/>
                <a:cs typeface="Times New Roman"/>
              </a:rPr>
              <a:t>each</a:t>
            </a:r>
            <a:r>
              <a:rPr lang="fr-FR" sz="1200" dirty="0" smtClean="0">
                <a:ea typeface="Calibri"/>
                <a:cs typeface="Times New Roman"/>
              </a:rPr>
              <a:t> pixel of the </a:t>
            </a:r>
            <a:r>
              <a:rPr lang="fr-FR" sz="1200" dirty="0" err="1" smtClean="0">
                <a:ea typeface="Calibri"/>
                <a:cs typeface="Times New Roman"/>
              </a:rPr>
              <a:t>displayed</a:t>
            </a:r>
            <a:r>
              <a:rPr lang="fr-FR" sz="1200" dirty="0" smtClean="0">
                <a:ea typeface="Calibri"/>
                <a:cs typeface="Times New Roman"/>
              </a:rPr>
              <a:t> « </a:t>
            </a:r>
            <a:r>
              <a:rPr lang="fr-FR" sz="1200" dirty="0" err="1" smtClean="0">
                <a:ea typeface="Calibri"/>
                <a:cs typeface="Times New Roman"/>
              </a:rPr>
              <a:t>target</a:t>
            </a:r>
            <a:r>
              <a:rPr lang="fr-FR" sz="1200" dirty="0" smtClean="0">
                <a:ea typeface="Calibri"/>
                <a:cs typeface="Times New Roman"/>
              </a:rPr>
              <a:t> » image, the </a:t>
            </a:r>
            <a:r>
              <a:rPr lang="fr-FR" sz="1200" dirty="0" err="1" smtClean="0">
                <a:ea typeface="Calibri"/>
                <a:cs typeface="Times New Roman"/>
              </a:rPr>
              <a:t>coordinates</a:t>
            </a:r>
            <a:r>
              <a:rPr lang="fr-FR" sz="1200" dirty="0" smtClean="0">
                <a:ea typeface="Calibri"/>
                <a:cs typeface="Times New Roman"/>
              </a:rPr>
              <a:t> (as </a:t>
            </a:r>
            <a:r>
              <a:rPr lang="fr-FR" sz="1200" dirty="0" err="1" smtClean="0">
                <a:ea typeface="Calibri"/>
                <a:cs typeface="Times New Roman"/>
              </a:rPr>
              <a:t>floating</a:t>
            </a:r>
            <a:r>
              <a:rPr lang="fr-FR" sz="1200" dirty="0" smtClean="0">
                <a:ea typeface="Calibri"/>
                <a:cs typeface="Times New Roman"/>
              </a:rPr>
              <a:t>-point </a:t>
            </a:r>
            <a:r>
              <a:rPr lang="fr-FR" sz="1200" dirty="0" err="1" smtClean="0">
                <a:ea typeface="Calibri"/>
                <a:cs typeface="Times New Roman"/>
              </a:rPr>
              <a:t>numbers</a:t>
            </a:r>
            <a:r>
              <a:rPr lang="fr-FR" sz="1200" dirty="0" smtClean="0">
                <a:ea typeface="Calibri"/>
                <a:cs typeface="Times New Roman"/>
              </a:rPr>
              <a:t>) </a:t>
            </a:r>
            <a:r>
              <a:rPr lang="fr-FR" sz="1200" dirty="0" err="1" smtClean="0">
                <a:ea typeface="Calibri"/>
                <a:cs typeface="Times New Roman"/>
              </a:rPr>
              <a:t>where</a:t>
            </a:r>
            <a:r>
              <a:rPr lang="fr-FR" sz="1200" dirty="0" smtClean="0">
                <a:ea typeface="Calibri"/>
                <a:cs typeface="Times New Roman"/>
              </a:rPr>
              <a:t> to </a:t>
            </a:r>
            <a:r>
              <a:rPr lang="fr-FR" sz="1200" dirty="0" err="1" smtClean="0">
                <a:ea typeface="Calibri"/>
                <a:cs typeface="Times New Roman"/>
              </a:rPr>
              <a:t>get</a:t>
            </a:r>
            <a:r>
              <a:rPr lang="fr-FR" sz="1200" dirty="0" smtClean="0">
                <a:ea typeface="Calibri"/>
                <a:cs typeface="Times New Roman"/>
              </a:rPr>
              <a:t> the pixel </a:t>
            </a:r>
            <a:r>
              <a:rPr lang="fr-FR" sz="1200" dirty="0" err="1" smtClean="0">
                <a:ea typeface="Calibri"/>
                <a:cs typeface="Times New Roman"/>
              </a:rPr>
              <a:t>color</a:t>
            </a:r>
            <a:r>
              <a:rPr lang="fr-FR" sz="1200" dirty="0" smtClean="0">
                <a:ea typeface="Calibri"/>
                <a:cs typeface="Times New Roman"/>
              </a:rPr>
              <a:t> </a:t>
            </a:r>
            <a:r>
              <a:rPr lang="fr-FR" sz="1200" dirty="0" err="1" smtClean="0">
                <a:ea typeface="Calibri"/>
                <a:cs typeface="Times New Roman"/>
              </a:rPr>
              <a:t>from</a:t>
            </a:r>
            <a:r>
              <a:rPr lang="fr-FR" sz="1200" dirty="0" smtClean="0">
                <a:ea typeface="Calibri"/>
                <a:cs typeface="Times New Roman"/>
              </a:rPr>
              <a:t> in the source image.</a:t>
            </a:r>
          </a:p>
          <a:p>
            <a:pPr>
              <a:spcAft>
                <a:spcPts val="0"/>
              </a:spcAft>
            </a:pPr>
            <a:r>
              <a:rPr lang="fr-FR" sz="1200" dirty="0" smtClean="0">
                <a:ea typeface="Calibri"/>
                <a:cs typeface="Times New Roman"/>
              </a:rPr>
              <a:t>The final </a:t>
            </a:r>
            <a:r>
              <a:rPr lang="fr-FR" sz="1200" dirty="0" err="1" smtClean="0">
                <a:ea typeface="Calibri"/>
                <a:cs typeface="Times New Roman"/>
              </a:rPr>
              <a:t>color</a:t>
            </a:r>
            <a:r>
              <a:rPr lang="fr-FR" sz="1200" dirty="0" smtClean="0">
                <a:ea typeface="Calibri"/>
                <a:cs typeface="Times New Roman"/>
              </a:rPr>
              <a:t> for </a:t>
            </a:r>
            <a:r>
              <a:rPr lang="fr-FR" sz="1200" dirty="0" err="1" smtClean="0">
                <a:ea typeface="Calibri"/>
                <a:cs typeface="Times New Roman"/>
              </a:rPr>
              <a:t>each</a:t>
            </a:r>
            <a:r>
              <a:rPr lang="fr-FR" sz="1200" dirty="0" smtClean="0">
                <a:ea typeface="Calibri"/>
                <a:cs typeface="Times New Roman"/>
              </a:rPr>
              <a:t> pixel </a:t>
            </a:r>
            <a:r>
              <a:rPr lang="fr-FR" sz="1200" dirty="0" err="1" smtClean="0">
                <a:ea typeface="Calibri"/>
                <a:cs typeface="Times New Roman"/>
              </a:rPr>
              <a:t>will</a:t>
            </a:r>
            <a:r>
              <a:rPr lang="fr-FR" sz="1200" dirty="0" smtClean="0">
                <a:ea typeface="Calibri"/>
                <a:cs typeface="Times New Roman"/>
              </a:rPr>
              <a:t> </a:t>
            </a:r>
            <a:r>
              <a:rPr lang="fr-FR" sz="1200" dirty="0" err="1" smtClean="0">
                <a:ea typeface="Calibri"/>
                <a:cs typeface="Times New Roman"/>
              </a:rPr>
              <a:t>thus</a:t>
            </a:r>
            <a:r>
              <a:rPr lang="fr-FR" sz="1200" dirty="0" smtClean="0">
                <a:ea typeface="Calibri"/>
                <a:cs typeface="Times New Roman"/>
              </a:rPr>
              <a:t> </a:t>
            </a:r>
            <a:r>
              <a:rPr lang="fr-FR" sz="1200" dirty="0" err="1" smtClean="0">
                <a:ea typeface="Calibri"/>
                <a:cs typeface="Times New Roman"/>
              </a:rPr>
              <a:t>be</a:t>
            </a:r>
            <a:r>
              <a:rPr lang="fr-FR" sz="1200" dirty="0" smtClean="0">
                <a:ea typeface="Calibri"/>
                <a:cs typeface="Times New Roman"/>
              </a:rPr>
              <a:t> </a:t>
            </a:r>
            <a:r>
              <a:rPr lang="fr-FR" sz="1200" dirty="0" err="1" smtClean="0">
                <a:ea typeface="Calibri"/>
                <a:cs typeface="Times New Roman"/>
              </a:rPr>
              <a:t>computed</a:t>
            </a:r>
            <a:r>
              <a:rPr lang="fr-FR" sz="1200" dirty="0" smtClean="0">
                <a:ea typeface="Calibri"/>
                <a:cs typeface="Times New Roman"/>
              </a:rPr>
              <a:t> </a:t>
            </a:r>
            <a:r>
              <a:rPr lang="fr-FR" sz="1200" dirty="0" err="1" smtClean="0">
                <a:ea typeface="Calibri"/>
                <a:cs typeface="Times New Roman"/>
              </a:rPr>
              <a:t>from</a:t>
            </a:r>
            <a:r>
              <a:rPr lang="fr-FR" sz="1200" dirty="0" smtClean="0">
                <a:ea typeface="Calibri"/>
                <a:cs typeface="Times New Roman"/>
              </a:rPr>
              <a:t> </a:t>
            </a:r>
            <a:r>
              <a:rPr lang="fr-FR" sz="1200" dirty="0" err="1" smtClean="0">
                <a:ea typeface="Calibri"/>
                <a:cs typeface="Times New Roman"/>
              </a:rPr>
              <a:t>filtering</a:t>
            </a:r>
            <a:r>
              <a:rPr lang="fr-FR" sz="1200" dirty="0" smtClean="0">
                <a:ea typeface="Calibri"/>
                <a:cs typeface="Times New Roman"/>
              </a:rPr>
              <a:t> the pixels in the </a:t>
            </a:r>
            <a:r>
              <a:rPr lang="fr-FR" sz="1200" dirty="0" err="1" smtClean="0">
                <a:ea typeface="Calibri"/>
                <a:cs typeface="Times New Roman"/>
              </a:rPr>
              <a:t>neighborood</a:t>
            </a:r>
            <a:r>
              <a:rPr lang="fr-FR" sz="1200" dirty="0" smtClean="0">
                <a:ea typeface="Calibri"/>
                <a:cs typeface="Times New Roman"/>
              </a:rPr>
              <a:t> of </a:t>
            </a:r>
            <a:r>
              <a:rPr lang="fr-FR" sz="1200" dirty="0" err="1" smtClean="0">
                <a:ea typeface="Calibri"/>
                <a:cs typeface="Times New Roman"/>
              </a:rPr>
              <a:t>these</a:t>
            </a:r>
            <a:r>
              <a:rPr lang="fr-FR" sz="1200" dirty="0" smtClean="0">
                <a:ea typeface="Calibri"/>
                <a:cs typeface="Times New Roman"/>
              </a:rPr>
              <a:t> </a:t>
            </a:r>
            <a:r>
              <a:rPr lang="fr-FR" sz="1200" dirty="0" err="1" smtClean="0">
                <a:ea typeface="Calibri"/>
                <a:cs typeface="Times New Roman"/>
              </a:rPr>
              <a:t>coordinates</a:t>
            </a:r>
            <a:r>
              <a:rPr lang="fr-FR" sz="1200" dirty="0" smtClean="0">
                <a:ea typeface="Calibri"/>
                <a:cs typeface="Times New Roman"/>
              </a:rPr>
              <a:t> in the source image.</a:t>
            </a:r>
          </a:p>
          <a:p>
            <a:pPr>
              <a:spcAft>
                <a:spcPts val="0"/>
              </a:spcAft>
            </a:pPr>
            <a:r>
              <a:rPr lang="fr-FR" sz="1200" dirty="0" err="1" smtClean="0">
                <a:ea typeface="Calibri"/>
                <a:cs typeface="Times New Roman"/>
              </a:rPr>
              <a:t>Nearest</a:t>
            </a:r>
            <a:r>
              <a:rPr lang="fr-FR" sz="1200" dirty="0" smtClean="0">
                <a:ea typeface="Calibri"/>
                <a:cs typeface="Times New Roman"/>
              </a:rPr>
              <a:t> point, bi-</a:t>
            </a:r>
            <a:r>
              <a:rPr lang="fr-FR" sz="1200" dirty="0" err="1" smtClean="0">
                <a:ea typeface="Calibri"/>
                <a:cs typeface="Times New Roman"/>
              </a:rPr>
              <a:t>linear</a:t>
            </a:r>
            <a:r>
              <a:rPr lang="fr-FR" sz="1200" dirty="0" smtClean="0">
                <a:ea typeface="Calibri"/>
                <a:cs typeface="Times New Roman"/>
              </a:rPr>
              <a:t> or </a:t>
            </a:r>
            <a:r>
              <a:rPr lang="fr-FR" sz="1200" dirty="0" err="1" smtClean="0">
                <a:ea typeface="Calibri"/>
                <a:cs typeface="Times New Roman"/>
              </a:rPr>
              <a:t>anisotropic</a:t>
            </a:r>
            <a:r>
              <a:rPr lang="fr-FR" sz="1200" dirty="0" smtClean="0">
                <a:ea typeface="Calibri"/>
                <a:cs typeface="Times New Roman"/>
              </a:rPr>
              <a:t> </a:t>
            </a:r>
            <a:r>
              <a:rPr lang="fr-FR" sz="1200" dirty="0" err="1" smtClean="0">
                <a:ea typeface="Calibri"/>
                <a:cs typeface="Times New Roman"/>
              </a:rPr>
              <a:t>filtering</a:t>
            </a:r>
            <a:r>
              <a:rPr lang="fr-FR" sz="1200" dirty="0" smtClean="0">
                <a:ea typeface="Calibri"/>
                <a:cs typeface="Times New Roman"/>
              </a:rPr>
              <a:t> </a:t>
            </a:r>
            <a:r>
              <a:rPr lang="fr-FR" sz="1200" dirty="0" err="1" smtClean="0">
                <a:ea typeface="Calibri"/>
                <a:cs typeface="Times New Roman"/>
              </a:rPr>
              <a:t>can</a:t>
            </a:r>
            <a:r>
              <a:rPr lang="fr-FR" sz="1200" dirty="0" smtClean="0">
                <a:ea typeface="Calibri"/>
                <a:cs typeface="Times New Roman"/>
              </a:rPr>
              <a:t> </a:t>
            </a:r>
            <a:r>
              <a:rPr lang="fr-FR" sz="1200" dirty="0" err="1" smtClean="0">
                <a:ea typeface="Calibri"/>
                <a:cs typeface="Times New Roman"/>
              </a:rPr>
              <a:t>be</a:t>
            </a:r>
            <a:r>
              <a:rPr lang="fr-FR" sz="1200" dirty="0" smtClean="0">
                <a:ea typeface="Calibri"/>
                <a:cs typeface="Times New Roman"/>
              </a:rPr>
              <a:t> </a:t>
            </a:r>
            <a:r>
              <a:rPr lang="fr-FR" sz="1200" dirty="0" err="1" smtClean="0">
                <a:ea typeface="Calibri"/>
                <a:cs typeface="Times New Roman"/>
              </a:rPr>
              <a:t>selected</a:t>
            </a:r>
            <a:r>
              <a:rPr lang="fr-FR" sz="1200" dirty="0" smtClean="0">
                <a:ea typeface="Calibri"/>
                <a:cs typeface="Times New Roman"/>
              </a:rPr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4DDDE4-9187-44B0-97DD-18729EC05F41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999091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1. The Generated Warping buffer from </a:t>
            </a:r>
            <a:r>
              <a:rPr lang="en-US" baseline="0" dirty="0" err="1" smtClean="0"/>
              <a:t>IrisWarpGen</a:t>
            </a:r>
            <a:r>
              <a:rPr lang="en-US" baseline="0" dirty="0" smtClean="0"/>
              <a:t> Tool </a:t>
            </a:r>
            <a:r>
              <a:rPr lang="en-US" dirty="0" smtClean="0"/>
              <a:t>will</a:t>
            </a:r>
            <a:r>
              <a:rPr lang="en-US" baseline="0" dirty="0" smtClean="0"/>
              <a:t> be included to GDT through hmi_gfx_mgr02_warp_tables.cfg file. The reference </a:t>
            </a:r>
            <a:r>
              <a:rPr lang="en-US" baseline="0" dirty="0" err="1" smtClean="0"/>
              <a:t>cfg</a:t>
            </a:r>
            <a:r>
              <a:rPr lang="en-US" baseline="0" dirty="0" smtClean="0"/>
              <a:t> can be found in the “\</a:t>
            </a:r>
            <a:r>
              <a:rPr lang="en-US" baseline="0" dirty="0" err="1" smtClean="0"/>
              <a:t>ui.core.gdt</a:t>
            </a:r>
            <a:r>
              <a:rPr lang="en-US" baseline="0" dirty="0" smtClean="0"/>
              <a:t>\hmi.gfx.manager.02\</a:t>
            </a:r>
            <a:r>
              <a:rPr lang="en-US" baseline="0" dirty="0" err="1" smtClean="0"/>
              <a:t>cfg</a:t>
            </a:r>
            <a:r>
              <a:rPr lang="en-US" baseline="0" dirty="0" smtClean="0"/>
              <a:t>”.</a:t>
            </a:r>
          </a:p>
          <a:p>
            <a:r>
              <a:rPr lang="en-US" baseline="0" dirty="0" smtClean="0"/>
              <a:t>2. The Warping functionality through Display Controller or </a:t>
            </a:r>
            <a:r>
              <a:rPr lang="en-US" baseline="0" dirty="0" err="1" smtClean="0"/>
              <a:t>Blit</a:t>
            </a:r>
            <a:r>
              <a:rPr lang="en-US" baseline="0" dirty="0" smtClean="0"/>
              <a:t> engine can be achieved.</a:t>
            </a:r>
          </a:p>
          <a:p>
            <a:r>
              <a:rPr lang="en-US" baseline="0" dirty="0" smtClean="0"/>
              <a:t>    The GDT will decide the type of warping based on the warp input to tool.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4DDDE4-9187-44B0-97DD-18729EC05F41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657806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lang="en-US" dirty="0" smtClean="0"/>
              <a:t>The below API is used to set</a:t>
            </a:r>
            <a:r>
              <a:rPr lang="en-US" baseline="0" dirty="0" smtClean="0"/>
              <a:t> the coordinate buffer dynamically by the user.</a:t>
            </a:r>
          </a:p>
          <a:p>
            <a:pPr marL="0" indent="0">
              <a:buNone/>
            </a:pPr>
            <a:r>
              <a:rPr lang="en-US" dirty="0" smtClean="0"/>
              <a:t>GUI_GFX_MGR_ERROR_CODE_T hmi_gfx_mgr02_layout_set_warping_table(GFX_MGR02_ANIM_ELEM_ID </a:t>
            </a:r>
            <a:r>
              <a:rPr lang="en-US" dirty="0" err="1" smtClean="0"/>
              <a:t>p_elem_id</a:t>
            </a:r>
            <a:r>
              <a:rPr lang="en-US" dirty="0" smtClean="0"/>
              <a:t>, MML_GDC_WARP_PARAM* </a:t>
            </a:r>
            <a:r>
              <a:rPr lang="en-US" dirty="0" err="1" smtClean="0"/>
              <a:t>p_warp_param</a:t>
            </a:r>
            <a:r>
              <a:rPr lang="en-US" dirty="0" smtClean="0"/>
              <a:t>, UINT8 * </a:t>
            </a:r>
            <a:r>
              <a:rPr lang="en-US" dirty="0" err="1" smtClean="0"/>
              <a:t>p_warp_data</a:t>
            </a:r>
            <a:r>
              <a:rPr lang="en-US" dirty="0" smtClean="0"/>
              <a:t>, UINT8 </a:t>
            </a:r>
            <a:r>
              <a:rPr lang="en-US" dirty="0" err="1" smtClean="0"/>
              <a:t>p_force_update</a:t>
            </a:r>
            <a:r>
              <a:rPr lang="en-US" dirty="0" smtClean="0"/>
              <a:t>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4DDDE4-9187-44B0-97DD-18729EC05F41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323607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5517"/>
            <a:ext cx="12154139" cy="6832483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165099"/>
            <a:ext cx="11360785" cy="1123707"/>
          </a:xfrm>
        </p:spPr>
        <p:txBody>
          <a:bodyPr anchor="b">
            <a:normAutofit/>
          </a:bodyPr>
          <a:lstStyle>
            <a:lvl1pPr algn="r">
              <a:defRPr sz="3600">
                <a:solidFill>
                  <a:schemeClr val="accent5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7200" y="1288806"/>
            <a:ext cx="11360785" cy="635244"/>
          </a:xfrm>
        </p:spPr>
        <p:txBody>
          <a:bodyPr>
            <a:normAutofit/>
          </a:bodyPr>
          <a:lstStyle>
            <a:lvl1pPr marL="0" indent="0" algn="r">
              <a:buNone/>
              <a:defRPr sz="20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92465"/>
            <a:ext cx="4114800" cy="365125"/>
          </a:xfrm>
        </p:spPr>
        <p:txBody>
          <a:bodyPr/>
          <a:lstStyle>
            <a:lvl1pPr algn="ctr"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78802" y="6053069"/>
            <a:ext cx="2402393" cy="678792"/>
          </a:xfrm>
          <a:prstGeom prst="rect">
            <a:avLst/>
          </a:prstGeom>
        </p:spPr>
      </p:pic>
      <p:sp>
        <p:nvSpPr>
          <p:cNvPr id="8" name="Footer Placeholder 4"/>
          <p:cNvSpPr>
            <a:spLocks noGrp="1"/>
          </p:cNvSpPr>
          <p:nvPr userDrawn="1"/>
        </p:nvSpPr>
        <p:spPr>
          <a:xfrm>
            <a:off x="190500" y="6392465"/>
            <a:ext cx="18097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05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smtClean="0"/>
              <a:t>Visteon Confidential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20056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6FB6F8-9286-4034-9F49-2B746BE500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51020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" r="16891" b="29758"/>
          <a:stretch/>
        </p:blipFill>
        <p:spPr>
          <a:xfrm>
            <a:off x="4238171" y="3009902"/>
            <a:ext cx="7953829" cy="3845717"/>
          </a:xfrm>
          <a:prstGeom prst="rect">
            <a:avLst/>
          </a:prstGeom>
        </p:spPr>
      </p:pic>
      <p:sp>
        <p:nvSpPr>
          <p:cNvPr id="4" name="Freeform 3"/>
          <p:cNvSpPr/>
          <p:nvPr userDrawn="1"/>
        </p:nvSpPr>
        <p:spPr bwMode="white">
          <a:xfrm>
            <a:off x="5885260" y="6431759"/>
            <a:ext cx="423862" cy="431006"/>
          </a:xfrm>
          <a:custGeom>
            <a:avLst/>
            <a:gdLst>
              <a:gd name="connsiteX0" fmla="*/ 0 w 421481"/>
              <a:gd name="connsiteY0" fmla="*/ 357187 h 364331"/>
              <a:gd name="connsiteX1" fmla="*/ 0 w 421481"/>
              <a:gd name="connsiteY1" fmla="*/ 85725 h 364331"/>
              <a:gd name="connsiteX2" fmla="*/ 214312 w 421481"/>
              <a:gd name="connsiteY2" fmla="*/ 0 h 364331"/>
              <a:gd name="connsiteX3" fmla="*/ 409575 w 421481"/>
              <a:gd name="connsiteY3" fmla="*/ 9525 h 364331"/>
              <a:gd name="connsiteX4" fmla="*/ 421481 w 421481"/>
              <a:gd name="connsiteY4" fmla="*/ 233362 h 364331"/>
              <a:gd name="connsiteX5" fmla="*/ 404812 w 421481"/>
              <a:gd name="connsiteY5" fmla="*/ 309562 h 364331"/>
              <a:gd name="connsiteX6" fmla="*/ 240506 w 421481"/>
              <a:gd name="connsiteY6" fmla="*/ 333375 h 364331"/>
              <a:gd name="connsiteX7" fmla="*/ 57150 w 421481"/>
              <a:gd name="connsiteY7" fmla="*/ 364331 h 364331"/>
              <a:gd name="connsiteX8" fmla="*/ 0 w 421481"/>
              <a:gd name="connsiteY8" fmla="*/ 357187 h 364331"/>
              <a:gd name="connsiteX0" fmla="*/ 0 w 421481"/>
              <a:gd name="connsiteY0" fmla="*/ 369093 h 369093"/>
              <a:gd name="connsiteX1" fmla="*/ 0 w 421481"/>
              <a:gd name="connsiteY1" fmla="*/ 85725 h 369093"/>
              <a:gd name="connsiteX2" fmla="*/ 214312 w 421481"/>
              <a:gd name="connsiteY2" fmla="*/ 0 h 369093"/>
              <a:gd name="connsiteX3" fmla="*/ 409575 w 421481"/>
              <a:gd name="connsiteY3" fmla="*/ 9525 h 369093"/>
              <a:gd name="connsiteX4" fmla="*/ 421481 w 421481"/>
              <a:gd name="connsiteY4" fmla="*/ 233362 h 369093"/>
              <a:gd name="connsiteX5" fmla="*/ 404812 w 421481"/>
              <a:gd name="connsiteY5" fmla="*/ 309562 h 369093"/>
              <a:gd name="connsiteX6" fmla="*/ 240506 w 421481"/>
              <a:gd name="connsiteY6" fmla="*/ 333375 h 369093"/>
              <a:gd name="connsiteX7" fmla="*/ 57150 w 421481"/>
              <a:gd name="connsiteY7" fmla="*/ 364331 h 369093"/>
              <a:gd name="connsiteX8" fmla="*/ 0 w 421481"/>
              <a:gd name="connsiteY8" fmla="*/ 369093 h 369093"/>
              <a:gd name="connsiteX0" fmla="*/ 0 w 421481"/>
              <a:gd name="connsiteY0" fmla="*/ 364330 h 364331"/>
              <a:gd name="connsiteX1" fmla="*/ 0 w 421481"/>
              <a:gd name="connsiteY1" fmla="*/ 85725 h 364331"/>
              <a:gd name="connsiteX2" fmla="*/ 214312 w 421481"/>
              <a:gd name="connsiteY2" fmla="*/ 0 h 364331"/>
              <a:gd name="connsiteX3" fmla="*/ 409575 w 421481"/>
              <a:gd name="connsiteY3" fmla="*/ 9525 h 364331"/>
              <a:gd name="connsiteX4" fmla="*/ 421481 w 421481"/>
              <a:gd name="connsiteY4" fmla="*/ 233362 h 364331"/>
              <a:gd name="connsiteX5" fmla="*/ 404812 w 421481"/>
              <a:gd name="connsiteY5" fmla="*/ 309562 h 364331"/>
              <a:gd name="connsiteX6" fmla="*/ 240506 w 421481"/>
              <a:gd name="connsiteY6" fmla="*/ 333375 h 364331"/>
              <a:gd name="connsiteX7" fmla="*/ 57150 w 421481"/>
              <a:gd name="connsiteY7" fmla="*/ 364331 h 364331"/>
              <a:gd name="connsiteX8" fmla="*/ 0 w 421481"/>
              <a:gd name="connsiteY8" fmla="*/ 364330 h 364331"/>
              <a:gd name="connsiteX0" fmla="*/ 0 w 421481"/>
              <a:gd name="connsiteY0" fmla="*/ 354805 h 354806"/>
              <a:gd name="connsiteX1" fmla="*/ 0 w 421481"/>
              <a:gd name="connsiteY1" fmla="*/ 76200 h 354806"/>
              <a:gd name="connsiteX2" fmla="*/ 214312 w 421481"/>
              <a:gd name="connsiteY2" fmla="*/ 7144 h 354806"/>
              <a:gd name="connsiteX3" fmla="*/ 409575 w 421481"/>
              <a:gd name="connsiteY3" fmla="*/ 0 h 354806"/>
              <a:gd name="connsiteX4" fmla="*/ 421481 w 421481"/>
              <a:gd name="connsiteY4" fmla="*/ 223837 h 354806"/>
              <a:gd name="connsiteX5" fmla="*/ 404812 w 421481"/>
              <a:gd name="connsiteY5" fmla="*/ 300037 h 354806"/>
              <a:gd name="connsiteX6" fmla="*/ 240506 w 421481"/>
              <a:gd name="connsiteY6" fmla="*/ 323850 h 354806"/>
              <a:gd name="connsiteX7" fmla="*/ 57150 w 421481"/>
              <a:gd name="connsiteY7" fmla="*/ 354806 h 354806"/>
              <a:gd name="connsiteX8" fmla="*/ 0 w 421481"/>
              <a:gd name="connsiteY8" fmla="*/ 354805 h 354806"/>
              <a:gd name="connsiteX0" fmla="*/ 0 w 421481"/>
              <a:gd name="connsiteY0" fmla="*/ 354805 h 354806"/>
              <a:gd name="connsiteX1" fmla="*/ 2381 w 421481"/>
              <a:gd name="connsiteY1" fmla="*/ 85725 h 354806"/>
              <a:gd name="connsiteX2" fmla="*/ 214312 w 421481"/>
              <a:gd name="connsiteY2" fmla="*/ 7144 h 354806"/>
              <a:gd name="connsiteX3" fmla="*/ 409575 w 421481"/>
              <a:gd name="connsiteY3" fmla="*/ 0 h 354806"/>
              <a:gd name="connsiteX4" fmla="*/ 421481 w 421481"/>
              <a:gd name="connsiteY4" fmla="*/ 223837 h 354806"/>
              <a:gd name="connsiteX5" fmla="*/ 404812 w 421481"/>
              <a:gd name="connsiteY5" fmla="*/ 300037 h 354806"/>
              <a:gd name="connsiteX6" fmla="*/ 240506 w 421481"/>
              <a:gd name="connsiteY6" fmla="*/ 323850 h 354806"/>
              <a:gd name="connsiteX7" fmla="*/ 57150 w 421481"/>
              <a:gd name="connsiteY7" fmla="*/ 354806 h 354806"/>
              <a:gd name="connsiteX8" fmla="*/ 0 w 421481"/>
              <a:gd name="connsiteY8" fmla="*/ 354805 h 354806"/>
              <a:gd name="connsiteX0" fmla="*/ 0 w 423862"/>
              <a:gd name="connsiteY0" fmla="*/ 431005 h 431006"/>
              <a:gd name="connsiteX1" fmla="*/ 2381 w 423862"/>
              <a:gd name="connsiteY1" fmla="*/ 161925 h 431006"/>
              <a:gd name="connsiteX2" fmla="*/ 214312 w 423862"/>
              <a:gd name="connsiteY2" fmla="*/ 83344 h 431006"/>
              <a:gd name="connsiteX3" fmla="*/ 423862 w 423862"/>
              <a:gd name="connsiteY3" fmla="*/ 0 h 431006"/>
              <a:gd name="connsiteX4" fmla="*/ 421481 w 423862"/>
              <a:gd name="connsiteY4" fmla="*/ 300037 h 431006"/>
              <a:gd name="connsiteX5" fmla="*/ 404812 w 423862"/>
              <a:gd name="connsiteY5" fmla="*/ 376237 h 431006"/>
              <a:gd name="connsiteX6" fmla="*/ 240506 w 423862"/>
              <a:gd name="connsiteY6" fmla="*/ 400050 h 431006"/>
              <a:gd name="connsiteX7" fmla="*/ 57150 w 423862"/>
              <a:gd name="connsiteY7" fmla="*/ 431006 h 431006"/>
              <a:gd name="connsiteX8" fmla="*/ 0 w 423862"/>
              <a:gd name="connsiteY8" fmla="*/ 431005 h 431006"/>
              <a:gd name="connsiteX0" fmla="*/ 0 w 423862"/>
              <a:gd name="connsiteY0" fmla="*/ 431005 h 431006"/>
              <a:gd name="connsiteX1" fmla="*/ 2381 w 423862"/>
              <a:gd name="connsiteY1" fmla="*/ 161925 h 431006"/>
              <a:gd name="connsiteX2" fmla="*/ 209550 w 423862"/>
              <a:gd name="connsiteY2" fmla="*/ 78582 h 431006"/>
              <a:gd name="connsiteX3" fmla="*/ 423862 w 423862"/>
              <a:gd name="connsiteY3" fmla="*/ 0 h 431006"/>
              <a:gd name="connsiteX4" fmla="*/ 421481 w 423862"/>
              <a:gd name="connsiteY4" fmla="*/ 300037 h 431006"/>
              <a:gd name="connsiteX5" fmla="*/ 404812 w 423862"/>
              <a:gd name="connsiteY5" fmla="*/ 376237 h 431006"/>
              <a:gd name="connsiteX6" fmla="*/ 240506 w 423862"/>
              <a:gd name="connsiteY6" fmla="*/ 400050 h 431006"/>
              <a:gd name="connsiteX7" fmla="*/ 57150 w 423862"/>
              <a:gd name="connsiteY7" fmla="*/ 431006 h 431006"/>
              <a:gd name="connsiteX8" fmla="*/ 0 w 423862"/>
              <a:gd name="connsiteY8" fmla="*/ 431005 h 431006"/>
              <a:gd name="connsiteX0" fmla="*/ 0 w 423862"/>
              <a:gd name="connsiteY0" fmla="*/ 431005 h 431006"/>
              <a:gd name="connsiteX1" fmla="*/ 2381 w 423862"/>
              <a:gd name="connsiteY1" fmla="*/ 161925 h 431006"/>
              <a:gd name="connsiteX2" fmla="*/ 209550 w 423862"/>
              <a:gd name="connsiteY2" fmla="*/ 78582 h 431006"/>
              <a:gd name="connsiteX3" fmla="*/ 423862 w 423862"/>
              <a:gd name="connsiteY3" fmla="*/ 0 h 431006"/>
              <a:gd name="connsiteX4" fmla="*/ 421481 w 423862"/>
              <a:gd name="connsiteY4" fmla="*/ 300037 h 431006"/>
              <a:gd name="connsiteX5" fmla="*/ 419100 w 423862"/>
              <a:gd name="connsiteY5" fmla="*/ 423862 h 431006"/>
              <a:gd name="connsiteX6" fmla="*/ 240506 w 423862"/>
              <a:gd name="connsiteY6" fmla="*/ 400050 h 431006"/>
              <a:gd name="connsiteX7" fmla="*/ 57150 w 423862"/>
              <a:gd name="connsiteY7" fmla="*/ 431006 h 431006"/>
              <a:gd name="connsiteX8" fmla="*/ 0 w 423862"/>
              <a:gd name="connsiteY8" fmla="*/ 431005 h 431006"/>
              <a:gd name="connsiteX0" fmla="*/ 0 w 423862"/>
              <a:gd name="connsiteY0" fmla="*/ 431005 h 431006"/>
              <a:gd name="connsiteX1" fmla="*/ 2381 w 423862"/>
              <a:gd name="connsiteY1" fmla="*/ 161925 h 431006"/>
              <a:gd name="connsiteX2" fmla="*/ 209550 w 423862"/>
              <a:gd name="connsiteY2" fmla="*/ 78582 h 431006"/>
              <a:gd name="connsiteX3" fmla="*/ 423862 w 423862"/>
              <a:gd name="connsiteY3" fmla="*/ 0 h 431006"/>
              <a:gd name="connsiteX4" fmla="*/ 421481 w 423862"/>
              <a:gd name="connsiteY4" fmla="*/ 300037 h 431006"/>
              <a:gd name="connsiteX5" fmla="*/ 419100 w 423862"/>
              <a:gd name="connsiteY5" fmla="*/ 423862 h 431006"/>
              <a:gd name="connsiteX6" fmla="*/ 233362 w 423862"/>
              <a:gd name="connsiteY6" fmla="*/ 414337 h 431006"/>
              <a:gd name="connsiteX7" fmla="*/ 57150 w 423862"/>
              <a:gd name="connsiteY7" fmla="*/ 431006 h 431006"/>
              <a:gd name="connsiteX8" fmla="*/ 0 w 423862"/>
              <a:gd name="connsiteY8" fmla="*/ 431005 h 431006"/>
              <a:gd name="connsiteX0" fmla="*/ 0 w 423862"/>
              <a:gd name="connsiteY0" fmla="*/ 431005 h 431006"/>
              <a:gd name="connsiteX1" fmla="*/ 2381 w 423862"/>
              <a:gd name="connsiteY1" fmla="*/ 161925 h 431006"/>
              <a:gd name="connsiteX2" fmla="*/ 209550 w 423862"/>
              <a:gd name="connsiteY2" fmla="*/ 78582 h 431006"/>
              <a:gd name="connsiteX3" fmla="*/ 423862 w 423862"/>
              <a:gd name="connsiteY3" fmla="*/ 0 h 431006"/>
              <a:gd name="connsiteX4" fmla="*/ 421481 w 423862"/>
              <a:gd name="connsiteY4" fmla="*/ 300037 h 431006"/>
              <a:gd name="connsiteX5" fmla="*/ 419100 w 423862"/>
              <a:gd name="connsiteY5" fmla="*/ 423862 h 431006"/>
              <a:gd name="connsiteX6" fmla="*/ 230981 w 423862"/>
              <a:gd name="connsiteY6" fmla="*/ 426243 h 431006"/>
              <a:gd name="connsiteX7" fmla="*/ 57150 w 423862"/>
              <a:gd name="connsiteY7" fmla="*/ 431006 h 431006"/>
              <a:gd name="connsiteX8" fmla="*/ 0 w 423862"/>
              <a:gd name="connsiteY8" fmla="*/ 431005 h 4310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23862" h="431006">
                <a:moveTo>
                  <a:pt x="0" y="431005"/>
                </a:moveTo>
                <a:cubicBezTo>
                  <a:pt x="794" y="341312"/>
                  <a:pt x="1587" y="251618"/>
                  <a:pt x="2381" y="161925"/>
                </a:cubicBezTo>
                <a:lnTo>
                  <a:pt x="209550" y="78582"/>
                </a:lnTo>
                <a:lnTo>
                  <a:pt x="423862" y="0"/>
                </a:lnTo>
                <a:cubicBezTo>
                  <a:pt x="423068" y="100012"/>
                  <a:pt x="422275" y="200025"/>
                  <a:pt x="421481" y="300037"/>
                </a:cubicBezTo>
                <a:cubicBezTo>
                  <a:pt x="420687" y="341312"/>
                  <a:pt x="419894" y="382587"/>
                  <a:pt x="419100" y="423862"/>
                </a:cubicBezTo>
                <a:lnTo>
                  <a:pt x="230981" y="426243"/>
                </a:lnTo>
                <a:lnTo>
                  <a:pt x="57150" y="431006"/>
                </a:lnTo>
                <a:lnTo>
                  <a:pt x="0" y="43100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6FB6F8-9286-4034-9F49-2B746BE500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86297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and Key Takeaw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0" y="6019803"/>
            <a:ext cx="12192000" cy="83819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8300" y="1371601"/>
            <a:ext cx="10985500" cy="4267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670800" y="6521448"/>
            <a:ext cx="4114800" cy="288927"/>
          </a:xfrm>
        </p:spPr>
        <p:txBody>
          <a:bodyPr/>
          <a:lstStyle>
            <a:lvl1pPr>
              <a:defRPr lang="en-US" sz="900" kern="1200" dirty="0">
                <a:solidFill>
                  <a:schemeClr val="bg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927600" y="6483350"/>
            <a:ext cx="2743200" cy="365125"/>
          </a:xfrm>
        </p:spPr>
        <p:txBody>
          <a:bodyPr/>
          <a:lstStyle>
            <a:lvl1pPr algn="ctr">
              <a:defRPr>
                <a:solidFill>
                  <a:schemeClr val="bg1">
                    <a:lumMod val="85000"/>
                  </a:schemeClr>
                </a:solidFill>
              </a:defRPr>
            </a:lvl1pPr>
          </a:lstStyle>
          <a:p>
            <a:fld id="{CB6FB6F8-9286-4034-9F49-2B746BE500D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3"/>
          </p:nvPr>
        </p:nvSpPr>
        <p:spPr>
          <a:xfrm>
            <a:off x="0" y="6010277"/>
            <a:ext cx="12192000" cy="542923"/>
          </a:xfrm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2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031930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Key Takeaw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 userDrawn="1"/>
        </p:nvSpPr>
        <p:spPr>
          <a:xfrm>
            <a:off x="0" y="6019803"/>
            <a:ext cx="12192000" cy="83819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8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85000"/>
                  </a:schemeClr>
                </a:solidFill>
              </a:defRPr>
            </a:lvl1pPr>
          </a:lstStyle>
          <a:p>
            <a:fld id="{CB6FB6F8-9286-4034-9F49-2B746BE500D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2"/>
          </p:nvPr>
        </p:nvSpPr>
        <p:spPr>
          <a:xfrm>
            <a:off x="0" y="6019800"/>
            <a:ext cx="12192000" cy="539496"/>
          </a:xfrm>
        </p:spPr>
        <p:txBody>
          <a:bodyPr anchor="ctr">
            <a:noAutofit/>
          </a:bodyPr>
          <a:lstStyle>
            <a:lvl1pPr marL="0" indent="0" algn="ctr"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2400"/>
            </a:lvl2pPr>
            <a:lvl3pPr marL="914400" indent="0">
              <a:buNone/>
              <a:defRPr sz="2400"/>
            </a:lvl3pPr>
            <a:lvl4pPr marL="1371600" indent="0">
              <a:buNone/>
              <a:defRPr sz="2400"/>
            </a:lvl4pPr>
            <a:lvl5pPr marL="1828800" indent="0">
              <a:buNone/>
              <a:defRPr sz="2400"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229319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Key Message on Orange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04874" y="1371601"/>
            <a:ext cx="10391775" cy="4057650"/>
          </a:xfrm>
        </p:spPr>
        <p:txBody>
          <a:bodyPr anchor="ctr">
            <a:normAutofit/>
          </a:bodyPr>
          <a:lstStyle>
            <a:lvl1pPr marL="0" indent="0" algn="ctr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 marL="914400" indent="0">
              <a:buNone/>
              <a:defRPr>
                <a:solidFill>
                  <a:schemeClr val="bg1"/>
                </a:solidFill>
              </a:defRPr>
            </a:lvl3pPr>
            <a:lvl4pPr marL="1371600" indent="0">
              <a:buNone/>
              <a:defRPr>
                <a:solidFill>
                  <a:schemeClr val="bg1"/>
                </a:solidFill>
              </a:defRPr>
            </a:lvl4pPr>
            <a:lvl5pPr marL="18288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B6FB6F8-9286-4034-9F49-2B746BE500DC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599" y="462911"/>
            <a:ext cx="1308101" cy="2521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66795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Key Message on Teal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04874" y="1371601"/>
            <a:ext cx="10391775" cy="4057650"/>
          </a:xfrm>
        </p:spPr>
        <p:txBody>
          <a:bodyPr anchor="ctr">
            <a:normAutofit/>
          </a:bodyPr>
          <a:lstStyle>
            <a:lvl1pPr marL="0" indent="0" algn="ctr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 marL="914400" indent="0">
              <a:buNone/>
              <a:defRPr>
                <a:solidFill>
                  <a:schemeClr val="bg1"/>
                </a:solidFill>
              </a:defRPr>
            </a:lvl3pPr>
            <a:lvl4pPr marL="1371600" indent="0">
              <a:buNone/>
              <a:defRPr>
                <a:solidFill>
                  <a:schemeClr val="bg1"/>
                </a:solidFill>
              </a:defRPr>
            </a:lvl4pPr>
            <a:lvl5pPr marL="18288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B6FB6F8-9286-4034-9F49-2B746BE500DC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599" y="462911"/>
            <a:ext cx="1308101" cy="2521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78309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Full page im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 marL="914400" indent="0">
              <a:buNone/>
              <a:defRPr>
                <a:solidFill>
                  <a:schemeClr val="bg1"/>
                </a:solidFill>
              </a:defRPr>
            </a:lvl3pPr>
            <a:lvl4pPr marL="1371600" indent="0">
              <a:buNone/>
              <a:defRPr>
                <a:solidFill>
                  <a:schemeClr val="bg1"/>
                </a:solidFill>
              </a:defRPr>
            </a:lvl4pPr>
            <a:lvl5pPr marL="18288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B6FB6F8-9286-4034-9F49-2B746BE500DC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599" y="462911"/>
            <a:ext cx="1308101" cy="2521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67949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8300" y="1003300"/>
            <a:ext cx="10598149" cy="1117600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68300" y="2120900"/>
            <a:ext cx="10598150" cy="681037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22732" y="5799069"/>
            <a:ext cx="2402393" cy="678792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1152" b="9686"/>
          <a:stretch/>
        </p:blipFill>
        <p:spPr>
          <a:xfrm>
            <a:off x="1785257" y="813556"/>
            <a:ext cx="10406743" cy="60517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01011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lumn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68300" y="1371600"/>
            <a:ext cx="5486400" cy="48053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11900" y="1371600"/>
            <a:ext cx="5486400" cy="48053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6FB6F8-9286-4034-9F49-2B746BE500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39234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8300" y="188913"/>
            <a:ext cx="10058400" cy="804672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68300" y="1371600"/>
            <a:ext cx="5486400" cy="823912"/>
          </a:xfrm>
        </p:spPr>
        <p:txBody>
          <a:bodyPr anchor="b"/>
          <a:lstStyle>
            <a:lvl1pPr marL="0" indent="0">
              <a:buNone/>
              <a:defRPr sz="2400" b="0">
                <a:solidFill>
                  <a:schemeClr val="accent5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68300" y="2195512"/>
            <a:ext cx="5486400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72181" y="1371600"/>
            <a:ext cx="5513419" cy="823912"/>
          </a:xfrm>
        </p:spPr>
        <p:txBody>
          <a:bodyPr anchor="b"/>
          <a:lstStyle>
            <a:lvl1pPr marL="0" indent="0">
              <a:buNone/>
              <a:defRPr sz="2400" b="0">
                <a:solidFill>
                  <a:schemeClr val="accent5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72181" y="2195512"/>
            <a:ext cx="5513419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6FB6F8-9286-4034-9F49-2B746BE500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582305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6FB6F8-9286-4034-9F49-2B746BE500D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022948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Key Messages with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6FB6F8-9286-4034-9F49-2B746BE500DC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Picture Placeholder 13"/>
          <p:cNvSpPr>
            <a:spLocks noGrp="1"/>
          </p:cNvSpPr>
          <p:nvPr>
            <p:ph type="pic" sz="quarter" idx="13"/>
          </p:nvPr>
        </p:nvSpPr>
        <p:spPr>
          <a:xfrm>
            <a:off x="368300" y="1397000"/>
            <a:ext cx="3695700" cy="2654300"/>
          </a:xfrm>
          <a:solidFill>
            <a:schemeClr val="accent2">
              <a:lumMod val="20000"/>
              <a:lumOff val="80000"/>
            </a:schemeClr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18" name="Text Placeholder 17"/>
          <p:cNvSpPr>
            <a:spLocks noGrp="1"/>
          </p:cNvSpPr>
          <p:nvPr>
            <p:ph type="body" sz="quarter" idx="16"/>
          </p:nvPr>
        </p:nvSpPr>
        <p:spPr>
          <a:xfrm>
            <a:off x="368300" y="4330700"/>
            <a:ext cx="3695700" cy="1600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</p:txBody>
      </p:sp>
      <p:sp>
        <p:nvSpPr>
          <p:cNvPr id="23" name="Picture Placeholder 13"/>
          <p:cNvSpPr>
            <a:spLocks noGrp="1"/>
          </p:cNvSpPr>
          <p:nvPr>
            <p:ph type="pic" sz="quarter" idx="19"/>
          </p:nvPr>
        </p:nvSpPr>
        <p:spPr>
          <a:xfrm>
            <a:off x="8089900" y="1397000"/>
            <a:ext cx="3695700" cy="2654300"/>
          </a:xfrm>
          <a:solidFill>
            <a:schemeClr val="accent2">
              <a:lumMod val="20000"/>
              <a:lumOff val="80000"/>
            </a:schemeClr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4" name="Picture Placeholder 13"/>
          <p:cNvSpPr>
            <a:spLocks noGrp="1"/>
          </p:cNvSpPr>
          <p:nvPr>
            <p:ph type="pic" sz="quarter" idx="20"/>
          </p:nvPr>
        </p:nvSpPr>
        <p:spPr>
          <a:xfrm>
            <a:off x="4241800" y="1397000"/>
            <a:ext cx="3695700" cy="2654300"/>
          </a:xfrm>
          <a:solidFill>
            <a:schemeClr val="accent2">
              <a:lumMod val="20000"/>
              <a:lumOff val="80000"/>
            </a:schemeClr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21"/>
          </p:nvPr>
        </p:nvSpPr>
        <p:spPr>
          <a:xfrm>
            <a:off x="4241800" y="4330700"/>
            <a:ext cx="3695700" cy="1600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22"/>
          </p:nvPr>
        </p:nvSpPr>
        <p:spPr>
          <a:xfrm>
            <a:off x="8089900" y="4330700"/>
            <a:ext cx="3695700" cy="1600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44592638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hree Key Messages with Detai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6FB6F8-9286-4034-9F49-2B746BE500DC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Picture Placeholder 13"/>
          <p:cNvSpPr>
            <a:spLocks noGrp="1"/>
          </p:cNvSpPr>
          <p:nvPr>
            <p:ph type="pic" sz="quarter" idx="13"/>
          </p:nvPr>
        </p:nvSpPr>
        <p:spPr>
          <a:xfrm>
            <a:off x="1312418" y="1238337"/>
            <a:ext cx="1803400" cy="1295226"/>
          </a:xfrm>
          <a:solidFill>
            <a:schemeClr val="accent2">
              <a:lumMod val="20000"/>
              <a:lumOff val="80000"/>
            </a:schemeClr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18" name="Text Placeholder 17"/>
          <p:cNvSpPr>
            <a:spLocks noGrp="1"/>
          </p:cNvSpPr>
          <p:nvPr>
            <p:ph type="body" sz="quarter" idx="16"/>
          </p:nvPr>
        </p:nvSpPr>
        <p:spPr>
          <a:xfrm>
            <a:off x="527050" y="2959100"/>
            <a:ext cx="3374136" cy="640080"/>
          </a:xfrm>
          <a:solidFill>
            <a:schemeClr val="accent1">
              <a:lumMod val="20000"/>
              <a:lumOff val="80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3" name="Picture Placeholder 13"/>
          <p:cNvSpPr>
            <a:spLocks noGrp="1"/>
          </p:cNvSpPr>
          <p:nvPr>
            <p:ph type="pic" sz="quarter" idx="19"/>
          </p:nvPr>
        </p:nvSpPr>
        <p:spPr>
          <a:xfrm>
            <a:off x="9014968" y="1238337"/>
            <a:ext cx="1803400" cy="1295226"/>
          </a:xfrm>
          <a:solidFill>
            <a:schemeClr val="accent2">
              <a:lumMod val="20000"/>
              <a:lumOff val="80000"/>
            </a:schemeClr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4" name="Picture Placeholder 13"/>
          <p:cNvSpPr>
            <a:spLocks noGrp="1"/>
          </p:cNvSpPr>
          <p:nvPr>
            <p:ph type="pic" sz="quarter" idx="20"/>
          </p:nvPr>
        </p:nvSpPr>
        <p:spPr>
          <a:xfrm>
            <a:off x="5185918" y="1238337"/>
            <a:ext cx="1803400" cy="1295226"/>
          </a:xfrm>
          <a:solidFill>
            <a:schemeClr val="accent2">
              <a:lumMod val="20000"/>
              <a:lumOff val="80000"/>
            </a:schemeClr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21"/>
          </p:nvPr>
        </p:nvSpPr>
        <p:spPr>
          <a:xfrm>
            <a:off x="4400550" y="2959100"/>
            <a:ext cx="3374136" cy="640080"/>
          </a:xfrm>
          <a:solidFill>
            <a:schemeClr val="accent1">
              <a:lumMod val="20000"/>
              <a:lumOff val="80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22"/>
          </p:nvPr>
        </p:nvSpPr>
        <p:spPr>
          <a:xfrm>
            <a:off x="8229600" y="2959100"/>
            <a:ext cx="3374136" cy="640080"/>
          </a:xfrm>
          <a:solidFill>
            <a:schemeClr val="accent1">
              <a:lumMod val="20000"/>
              <a:lumOff val="80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23"/>
          </p:nvPr>
        </p:nvSpPr>
        <p:spPr>
          <a:xfrm>
            <a:off x="527050" y="3767431"/>
            <a:ext cx="3374136" cy="640080"/>
          </a:xfrm>
          <a:solidFill>
            <a:schemeClr val="accent1">
              <a:lumMod val="20000"/>
              <a:lumOff val="80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24"/>
          </p:nvPr>
        </p:nvSpPr>
        <p:spPr>
          <a:xfrm>
            <a:off x="4400550" y="3767431"/>
            <a:ext cx="3374136" cy="640080"/>
          </a:xfrm>
          <a:solidFill>
            <a:schemeClr val="accent1">
              <a:lumMod val="20000"/>
              <a:lumOff val="80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25"/>
          </p:nvPr>
        </p:nvSpPr>
        <p:spPr>
          <a:xfrm>
            <a:off x="8229600" y="3767431"/>
            <a:ext cx="3374136" cy="640080"/>
          </a:xfrm>
          <a:solidFill>
            <a:schemeClr val="accent1">
              <a:lumMod val="20000"/>
              <a:lumOff val="80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sz="quarter" idx="26"/>
          </p:nvPr>
        </p:nvSpPr>
        <p:spPr>
          <a:xfrm>
            <a:off x="527050" y="4575762"/>
            <a:ext cx="3374136" cy="640080"/>
          </a:xfrm>
          <a:solidFill>
            <a:schemeClr val="accent1">
              <a:lumMod val="20000"/>
              <a:lumOff val="80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9" name="Text Placeholder 18"/>
          <p:cNvSpPr>
            <a:spLocks noGrp="1"/>
          </p:cNvSpPr>
          <p:nvPr>
            <p:ph type="body" sz="quarter" idx="27"/>
          </p:nvPr>
        </p:nvSpPr>
        <p:spPr>
          <a:xfrm>
            <a:off x="4400550" y="4575762"/>
            <a:ext cx="3374136" cy="640080"/>
          </a:xfrm>
          <a:solidFill>
            <a:schemeClr val="accent1">
              <a:lumMod val="20000"/>
              <a:lumOff val="80000"/>
            </a:schemeClr>
          </a:solidFill>
        </p:spPr>
        <p:txBody>
          <a:bodyPr anchor="ctr">
            <a:noAutofit/>
          </a:bodyPr>
          <a:lstStyle>
            <a:lvl1pPr marL="0" indent="0" algn="ctr">
              <a:buNone/>
              <a:defRPr sz="1800"/>
            </a:lvl1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1" name="Text Placeholder 20"/>
          <p:cNvSpPr>
            <a:spLocks noGrp="1"/>
          </p:cNvSpPr>
          <p:nvPr>
            <p:ph type="body" sz="quarter" idx="28"/>
          </p:nvPr>
        </p:nvSpPr>
        <p:spPr>
          <a:xfrm>
            <a:off x="8229600" y="4575762"/>
            <a:ext cx="3374136" cy="640080"/>
          </a:xfrm>
          <a:solidFill>
            <a:schemeClr val="accent1">
              <a:lumMod val="20000"/>
              <a:lumOff val="80000"/>
            </a:schemeClr>
          </a:solidFill>
        </p:spPr>
        <p:txBody>
          <a:bodyPr anchor="ctr">
            <a:noAutofit/>
          </a:bodyPr>
          <a:lstStyle>
            <a:lvl1pPr marL="0" indent="0" algn="ctr">
              <a:buNone/>
              <a:defRPr sz="1800"/>
            </a:lvl1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5" name="Text Placeholder 24"/>
          <p:cNvSpPr>
            <a:spLocks noGrp="1"/>
          </p:cNvSpPr>
          <p:nvPr>
            <p:ph type="body" sz="quarter" idx="29"/>
          </p:nvPr>
        </p:nvSpPr>
        <p:spPr>
          <a:xfrm>
            <a:off x="527050" y="5384093"/>
            <a:ext cx="3374136" cy="640080"/>
          </a:xfrm>
          <a:solidFill>
            <a:schemeClr val="accent1">
              <a:lumMod val="20000"/>
              <a:lumOff val="80000"/>
            </a:schemeClr>
          </a:solidFill>
        </p:spPr>
        <p:txBody>
          <a:bodyPr anchor="ctr">
            <a:noAutofit/>
          </a:bodyPr>
          <a:lstStyle>
            <a:lvl1pPr marL="0" indent="0" algn="ctr">
              <a:buNone/>
              <a:defRPr sz="1800"/>
            </a:lvl1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7" name="Text Placeholder 26"/>
          <p:cNvSpPr>
            <a:spLocks noGrp="1"/>
          </p:cNvSpPr>
          <p:nvPr>
            <p:ph type="body" sz="quarter" idx="30"/>
          </p:nvPr>
        </p:nvSpPr>
        <p:spPr>
          <a:xfrm>
            <a:off x="4400550" y="5384093"/>
            <a:ext cx="3374136" cy="640080"/>
          </a:xfrm>
          <a:solidFill>
            <a:schemeClr val="accent1">
              <a:lumMod val="20000"/>
              <a:lumOff val="80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9" name="Text Placeholder 28"/>
          <p:cNvSpPr>
            <a:spLocks noGrp="1"/>
          </p:cNvSpPr>
          <p:nvPr>
            <p:ph type="body" sz="quarter" idx="31"/>
          </p:nvPr>
        </p:nvSpPr>
        <p:spPr>
          <a:xfrm>
            <a:off x="8229600" y="5384093"/>
            <a:ext cx="3374136" cy="640080"/>
          </a:xfrm>
          <a:solidFill>
            <a:schemeClr val="accent1">
              <a:lumMod val="20000"/>
              <a:lumOff val="80000"/>
            </a:schemeClr>
          </a:solidFill>
        </p:spPr>
        <p:txBody>
          <a:bodyPr anchor="ctr">
            <a:noAutofit/>
          </a:bodyPr>
          <a:lstStyle>
            <a:lvl1pPr marL="0" indent="0" algn="ctr">
              <a:buNone/>
              <a:defRPr sz="1800"/>
            </a:lvl1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9257450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CB6FB6F8-9286-4034-9F49-2B746BE500D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329579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Bullet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6096000" cy="6858000"/>
          </a:xfrm>
        </p:spPr>
        <p:txBody>
          <a:bodyPr anchor="ctr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9200" y="1003300"/>
            <a:ext cx="5486400" cy="5001419"/>
          </a:xfrm>
        </p:spPr>
        <p:txBody>
          <a:bodyPr anchor="ctr"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sz="2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096000" y="6483350"/>
            <a:ext cx="1371600" cy="365125"/>
          </a:xfrm>
        </p:spPr>
        <p:txBody>
          <a:bodyPr/>
          <a:lstStyle>
            <a:lvl1pPr algn="l">
              <a:defRPr/>
            </a:lvl1pPr>
          </a:lstStyle>
          <a:p>
            <a:fld id="{CB6FB6F8-9286-4034-9F49-2B746BE500D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911669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icture with Bulleted Text on Teal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6096000" cy="6858000"/>
          </a:xfrm>
        </p:spPr>
        <p:txBody>
          <a:bodyPr anchor="ctr"/>
          <a:lstStyle>
            <a:lvl1pPr marL="0" indent="0" algn="ctr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9200" y="1003300"/>
            <a:ext cx="5486400" cy="5001419"/>
          </a:xfrm>
        </p:spPr>
        <p:txBody>
          <a:bodyPr anchor="ctr"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096000" y="6461125"/>
            <a:ext cx="1574800" cy="365125"/>
          </a:xfrm>
        </p:spPr>
        <p:txBody>
          <a:bodyPr/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fld id="{CB6FB6F8-9286-4034-9F49-2B746BE500DC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599" y="462911"/>
            <a:ext cx="1308101" cy="2521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995613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81" r="4158" b="27068"/>
          <a:stretch/>
        </p:blipFill>
        <p:spPr>
          <a:xfrm>
            <a:off x="-1" y="1314452"/>
            <a:ext cx="12192001" cy="5543548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84975" y="1273481"/>
            <a:ext cx="3822049" cy="7585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45062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99341" y="390592"/>
            <a:ext cx="1399778" cy="395505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68300" y="187325"/>
            <a:ext cx="10083800" cy="8032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68300" y="1371600"/>
            <a:ext cx="10985500" cy="48053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7670800" y="6483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724400" y="6483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CB6FB6F8-9286-4034-9F49-2B746BE500D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68032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1" r:id="rId1"/>
    <p:sldLayoutId id="2147483686" r:id="rId2"/>
    <p:sldLayoutId id="2147483702" r:id="rId3"/>
    <p:sldLayoutId id="2147483699" r:id="rId4"/>
    <p:sldLayoutId id="2147483703" r:id="rId5"/>
    <p:sldLayoutId id="2147483695" r:id="rId6"/>
    <p:sldLayoutId id="2147483696" r:id="rId7"/>
    <p:sldLayoutId id="2147483704" r:id="rId8"/>
    <p:sldLayoutId id="2147483687" r:id="rId9"/>
    <p:sldLayoutId id="2147483688" r:id="rId10"/>
    <p:sldLayoutId id="2147483689" r:id="rId11"/>
    <p:sldLayoutId id="2147483690" r:id="rId12"/>
    <p:sldLayoutId id="2147483698" r:id="rId13"/>
    <p:sldLayoutId id="2147483705" r:id="rId14"/>
    <p:sldLayoutId id="2147483691" r:id="rId15"/>
    <p:sldLayoutId id="2147483693" r:id="rId16"/>
    <p:sldLayoutId id="2147483697" r:id="rId17"/>
    <p:sldLayoutId id="2147483694" r:id="rId18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kern="1200">
          <a:solidFill>
            <a:schemeClr val="accent5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=""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orient="horz" pos="864" userDrawn="1">
          <p15:clr>
            <a:srgbClr val="F26B43"/>
          </p15:clr>
        </p15:guide>
        <p15:guide id="4" pos="232" userDrawn="1">
          <p15:clr>
            <a:srgbClr val="F26B43"/>
          </p15:clr>
        </p15:guide>
        <p15:guide id="5" orient="horz" pos="3904" userDrawn="1">
          <p15:clr>
            <a:srgbClr val="F26B43"/>
          </p15:clr>
        </p15:guide>
        <p15:guide id="6" orient="horz" pos="632" userDrawn="1">
          <p15:clr>
            <a:srgbClr val="F26B43"/>
          </p15:clr>
        </p15:guide>
        <p15:guide id="7" orient="horz" pos="112" userDrawn="1">
          <p15:clr>
            <a:srgbClr val="F26B43"/>
          </p15:clr>
        </p15:guide>
        <p15:guide id="8" pos="7424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://hub.visteon.com/enterProj/cgi-bin/loginep.pl?http://enterproj.visteon.com/enterproj/spm_proj_docs_list?p_proj_id=12027&amp;p_attachment_id=1236697&amp;p_doctype=PROJECT&amp;p_show=ALL#D1236697" TargetMode="External"/><Relationship Id="rId2" Type="http://schemas.openxmlformats.org/officeDocument/2006/relationships/hyperlink" Target="http://hub.visteon.com/enterProj/cgi-bin/loginep.pl?http://enterproj.visteon.com/enterproj/spm_proj_docs_list?p_proj_id=12027&amp;p_attachment_id=1178988&amp;p_doctype=PROJECT&amp;p_show=ALL#D1178988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Warping Feature Usage Through GDT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October 2016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59615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Overview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Optics Input</a:t>
            </a:r>
          </a:p>
          <a:p>
            <a:r>
              <a:rPr lang="en-US" dirty="0" smtClean="0"/>
              <a:t>Coordinate Buffer Creation</a:t>
            </a:r>
          </a:p>
          <a:p>
            <a:r>
              <a:rPr lang="en-US" dirty="0" smtClean="0"/>
              <a:t>Warp Feature through GDT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6FB6F8-9286-4034-9F49-2B746BE500DC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43288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Input from Optics Engineer</a:t>
            </a:r>
            <a:endParaRPr lang="en-US" dirty="0"/>
          </a:p>
        </p:txBody>
      </p:sp>
      <p:sp>
        <p:nvSpPr>
          <p:cNvPr id="27" name="Content Placeholder 26"/>
          <p:cNvSpPr>
            <a:spLocks noGrp="1"/>
          </p:cNvSpPr>
          <p:nvPr>
            <p:ph idx="1"/>
          </p:nvPr>
        </p:nvSpPr>
        <p:spPr/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Footer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6FB6F8-9286-4034-9F49-2B746BE500DC}" type="slidenum">
              <a:rPr lang="en-US" smtClean="0"/>
              <a:t>3</a:t>
            </a:fld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5192482" y="2917371"/>
            <a:ext cx="1393371" cy="193765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Source  </a:t>
            </a:r>
            <a:r>
              <a:rPr lang="en-US" dirty="0" smtClean="0"/>
              <a:t>Image grid </a:t>
            </a:r>
            <a:r>
              <a:rPr lang="en-US" dirty="0" smtClean="0"/>
              <a:t>to Destination Image </a:t>
            </a:r>
            <a:r>
              <a:rPr lang="en-US" dirty="0" smtClean="0"/>
              <a:t>grid mapping </a:t>
            </a:r>
            <a:r>
              <a:rPr lang="en-US" dirty="0" smtClean="0"/>
              <a:t>data</a:t>
            </a:r>
            <a:endParaRPr lang="en-US" dirty="0"/>
          </a:p>
        </p:txBody>
      </p:sp>
      <p:cxnSp>
        <p:nvCxnSpPr>
          <p:cNvPr id="11" name="Elbow Connector 10"/>
          <p:cNvCxnSpPr/>
          <p:nvPr/>
        </p:nvCxnSpPr>
        <p:spPr>
          <a:xfrm>
            <a:off x="2569026" y="2382610"/>
            <a:ext cx="2623456" cy="968829"/>
          </a:xfrm>
          <a:prstGeom prst="bentConnector3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8392882" y="3136900"/>
            <a:ext cx="1915886" cy="1524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 smtClean="0"/>
              <a:t>IrisWarpGen</a:t>
            </a:r>
            <a:r>
              <a:rPr lang="en-US" dirty="0" smtClean="0"/>
              <a:t> Tool</a:t>
            </a:r>
            <a:endParaRPr lang="en-US" dirty="0"/>
          </a:p>
        </p:txBody>
      </p:sp>
      <p:grpSp>
        <p:nvGrpSpPr>
          <p:cNvPr id="28" name="Group 27"/>
          <p:cNvGrpSpPr/>
          <p:nvPr/>
        </p:nvGrpSpPr>
        <p:grpSpPr>
          <a:xfrm>
            <a:off x="1175655" y="1948542"/>
            <a:ext cx="1393371" cy="1937657"/>
            <a:chOff x="1175655" y="1948542"/>
            <a:chExt cx="1393371" cy="1937657"/>
          </a:xfrm>
        </p:grpSpPr>
        <p:sp>
          <p:nvSpPr>
            <p:cNvPr id="5" name="Rectangle 4"/>
            <p:cNvSpPr/>
            <p:nvPr/>
          </p:nvSpPr>
          <p:spPr>
            <a:xfrm>
              <a:off x="1175655" y="1948542"/>
              <a:ext cx="1393371" cy="1937657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en-US" dirty="0" smtClean="0"/>
                <a:t>Source </a:t>
              </a:r>
              <a:r>
                <a:rPr lang="en-US" dirty="0" smtClean="0"/>
                <a:t>Grid</a:t>
              </a:r>
              <a:endParaRPr lang="en-US" dirty="0"/>
            </a:p>
          </p:txBody>
        </p:sp>
        <p:pic>
          <p:nvPicPr>
            <p:cNvPr id="1026" name="Picture 2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77027" y="2903764"/>
              <a:ext cx="1190625" cy="8953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29" name="Group 28"/>
          <p:cNvGrpSpPr/>
          <p:nvPr/>
        </p:nvGrpSpPr>
        <p:grpSpPr>
          <a:xfrm>
            <a:off x="1175653" y="4082142"/>
            <a:ext cx="1393371" cy="1937657"/>
            <a:chOff x="1175653" y="4082142"/>
            <a:chExt cx="1393371" cy="1937657"/>
          </a:xfrm>
        </p:grpSpPr>
        <p:sp>
          <p:nvSpPr>
            <p:cNvPr id="7" name="Rectangle 6"/>
            <p:cNvSpPr/>
            <p:nvPr/>
          </p:nvSpPr>
          <p:spPr>
            <a:xfrm>
              <a:off x="1175653" y="4082142"/>
              <a:ext cx="1393371" cy="1937657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en-US" dirty="0" smtClean="0"/>
                <a:t>Destination </a:t>
              </a:r>
              <a:r>
                <a:rPr lang="en-US" dirty="0" smtClean="0"/>
                <a:t>Grid</a:t>
              </a:r>
              <a:endParaRPr lang="en-US" dirty="0"/>
            </a:p>
          </p:txBody>
        </p:sp>
        <p:pic>
          <p:nvPicPr>
            <p:cNvPr id="1027" name="Picture 3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77027" y="4948918"/>
              <a:ext cx="1181100" cy="8858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cxnSp>
        <p:nvCxnSpPr>
          <p:cNvPr id="16" name="Elbow Connector 15"/>
          <p:cNvCxnSpPr>
            <a:stCxn id="7" idx="3"/>
            <a:endCxn id="9" idx="1"/>
          </p:cNvCxnSpPr>
          <p:nvPr/>
        </p:nvCxnSpPr>
        <p:spPr>
          <a:xfrm flipV="1">
            <a:off x="2569024" y="3886200"/>
            <a:ext cx="2623458" cy="1164771"/>
          </a:xfrm>
          <a:prstGeom prst="bentConnector3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Elbow Connector 18"/>
          <p:cNvCxnSpPr>
            <a:stCxn id="9" idx="3"/>
            <a:endCxn id="24" idx="1"/>
          </p:cNvCxnSpPr>
          <p:nvPr/>
        </p:nvCxnSpPr>
        <p:spPr>
          <a:xfrm>
            <a:off x="6585853" y="3886200"/>
            <a:ext cx="1807029" cy="12700"/>
          </a:xfrm>
          <a:prstGeom prst="bentConnector3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Oval Callout 29"/>
          <p:cNvSpPr/>
          <p:nvPr/>
        </p:nvSpPr>
        <p:spPr>
          <a:xfrm>
            <a:off x="6955970" y="1458689"/>
            <a:ext cx="2275115" cy="1453241"/>
          </a:xfrm>
          <a:prstGeom prst="wedgeEllipseCallout">
            <a:avLst>
              <a:gd name="adj1" fmla="val -31717"/>
              <a:gd name="adj2" fmla="val 117984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Grid Data from Optics Engineer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24265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Warping Work flow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6FB6F8-9286-4034-9F49-2B746BE500DC}" type="slidenum">
              <a:rPr lang="en-US" smtClean="0"/>
              <a:t>4</a:t>
            </a:fld>
            <a:endParaRPr lang="en-US"/>
          </a:p>
        </p:txBody>
      </p:sp>
      <p:sp>
        <p:nvSpPr>
          <p:cNvPr id="6" name="Rectangle à coins arrondis 2072"/>
          <p:cNvSpPr/>
          <p:nvPr/>
        </p:nvSpPr>
        <p:spPr bwMode="auto">
          <a:xfrm>
            <a:off x="446824" y="3371936"/>
            <a:ext cx="3905713" cy="2555714"/>
          </a:xfrm>
          <a:prstGeom prst="roundRect">
            <a:avLst/>
          </a:prstGeom>
          <a:solidFill>
            <a:srgbClr val="FFCC66"/>
          </a:solidFill>
          <a:ln w="15875" cap="flat" cmpd="sng" algn="ctr">
            <a:solidFill>
              <a:schemeClr val="hlink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fr-FR" dirty="0">
              <a:latin typeface="Arial" charset="0"/>
              <a:cs typeface="Arial" charset="0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400" dirty="0" smtClean="0">
                <a:latin typeface="Arial" charset="0"/>
                <a:cs typeface="Arial" charset="0"/>
              </a:rPr>
              <a:t>conversion</a:t>
            </a: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tools</a:t>
            </a:r>
            <a:endParaRPr kumimoji="0" lang="fr-FR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  <p:grpSp>
        <p:nvGrpSpPr>
          <p:cNvPr id="7" name="Groupe 11"/>
          <p:cNvGrpSpPr/>
          <p:nvPr/>
        </p:nvGrpSpPr>
        <p:grpSpPr>
          <a:xfrm>
            <a:off x="420814" y="1816369"/>
            <a:ext cx="1085662" cy="1468939"/>
            <a:chOff x="609600" y="1905000"/>
            <a:chExt cx="1322869" cy="1600200"/>
          </a:xfrm>
        </p:grpSpPr>
        <p:sp>
          <p:nvSpPr>
            <p:cNvPr id="8" name="Flowchart: Magnetic Disk 5"/>
            <p:cNvSpPr/>
            <p:nvPr/>
          </p:nvSpPr>
          <p:spPr>
            <a:xfrm>
              <a:off x="609600" y="1905000"/>
              <a:ext cx="1322869" cy="1600200"/>
            </a:xfrm>
            <a:prstGeom prst="flowChartMagneticDisk">
              <a:avLst/>
            </a:prstGeom>
            <a:solidFill>
              <a:srgbClr val="FF8A29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b"/>
            <a:lstStyle/>
            <a:p>
              <a:pPr algn="ctr"/>
              <a:r>
                <a:rPr lang="fr-FR" sz="1600" dirty="0" err="1" smtClean="0">
                  <a:solidFill>
                    <a:schemeClr val="bg1"/>
                  </a:solidFill>
                </a:rPr>
                <a:t>Optics</a:t>
              </a:r>
              <a:r>
                <a:rPr lang="fr-FR" sz="1600" dirty="0" smtClean="0">
                  <a:solidFill>
                    <a:schemeClr val="bg1"/>
                  </a:solidFill>
                </a:rPr>
                <a:t> data:</a:t>
              </a:r>
            </a:p>
            <a:p>
              <a:pPr algn="ctr"/>
              <a:endParaRPr lang="fr-FR" sz="1600" dirty="0" smtClean="0">
                <a:solidFill>
                  <a:schemeClr val="bg1"/>
                </a:solidFill>
              </a:endParaRPr>
            </a:p>
            <a:p>
              <a:pPr algn="ctr"/>
              <a:r>
                <a:rPr lang="fr-FR" sz="1600" dirty="0" smtClean="0">
                  <a:solidFill>
                    <a:schemeClr val="bg1"/>
                  </a:solidFill>
                </a:rPr>
                <a:t>Or </a:t>
              </a:r>
            </a:p>
          </p:txBody>
        </p:sp>
        <p:pic>
          <p:nvPicPr>
            <p:cNvPr id="9" name="Picture 2"/>
            <p:cNvPicPr>
              <a:picLocks noChangeAspect="1" noChangeArrowheads="1"/>
            </p:cNvPicPr>
            <p:nvPr/>
          </p:nvPicPr>
          <p:blipFill>
            <a:blip r:embed="rId3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85799" y="2903612"/>
              <a:ext cx="380999" cy="38099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10" name="Picture 5"/>
            <p:cNvPicPr>
              <a:picLocks noChangeAspect="1" noChangeArrowheads="1"/>
            </p:cNvPicPr>
            <p:nvPr/>
          </p:nvPicPr>
          <p:blipFill>
            <a:blip r:embed="rId4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458856" y="2903612"/>
              <a:ext cx="414123" cy="41412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  <p:sp>
        <p:nvSpPr>
          <p:cNvPr id="11" name="Rounded Rectangle 6"/>
          <p:cNvSpPr/>
          <p:nvPr/>
        </p:nvSpPr>
        <p:spPr>
          <a:xfrm>
            <a:off x="1754481" y="2251702"/>
            <a:ext cx="2286000" cy="596722"/>
          </a:xfrm>
          <a:prstGeom prst="roundRect">
            <a:avLst/>
          </a:prstGeom>
          <a:solidFill>
            <a:srgbClr val="FF8A2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600" dirty="0" err="1" smtClean="0">
                <a:solidFill>
                  <a:schemeClr val="bg1"/>
                </a:solidFill>
              </a:rPr>
              <a:t>Manual</a:t>
            </a:r>
            <a:r>
              <a:rPr lang="fr-FR" sz="1600" dirty="0" smtClean="0">
                <a:solidFill>
                  <a:schemeClr val="bg1"/>
                </a:solidFill>
              </a:rPr>
              <a:t>: copy-</a:t>
            </a:r>
            <a:r>
              <a:rPr lang="fr-FR" sz="1600" dirty="0" err="1" smtClean="0">
                <a:solidFill>
                  <a:schemeClr val="bg1"/>
                </a:solidFill>
              </a:rPr>
              <a:t>paste</a:t>
            </a:r>
            <a:r>
              <a:rPr lang="fr-FR" sz="1600" dirty="0" smtClean="0">
                <a:solidFill>
                  <a:schemeClr val="bg1"/>
                </a:solidFill>
              </a:rPr>
              <a:t> + </a:t>
            </a:r>
            <a:r>
              <a:rPr lang="fr-FR" sz="1600" dirty="0" err="1" smtClean="0">
                <a:solidFill>
                  <a:schemeClr val="bg1"/>
                </a:solidFill>
              </a:rPr>
              <a:t>minor</a:t>
            </a:r>
            <a:r>
              <a:rPr lang="fr-FR" sz="1600" dirty="0" smtClean="0">
                <a:solidFill>
                  <a:schemeClr val="bg1"/>
                </a:solidFill>
              </a:rPr>
              <a:t> </a:t>
            </a:r>
            <a:r>
              <a:rPr lang="fr-FR" sz="1600" dirty="0" err="1" smtClean="0">
                <a:solidFill>
                  <a:schemeClr val="bg1"/>
                </a:solidFill>
              </a:rPr>
              <a:t>editing</a:t>
            </a:r>
            <a:endParaRPr lang="en-US" sz="1600" dirty="0">
              <a:solidFill>
                <a:schemeClr val="bg1"/>
              </a:solidFill>
            </a:endParaRPr>
          </a:p>
        </p:txBody>
      </p:sp>
      <p:grpSp>
        <p:nvGrpSpPr>
          <p:cNvPr id="12" name="Groupe 16"/>
          <p:cNvGrpSpPr/>
          <p:nvPr/>
        </p:nvGrpSpPr>
        <p:grpSpPr>
          <a:xfrm>
            <a:off x="4219245" y="1793507"/>
            <a:ext cx="1561061" cy="1513573"/>
            <a:chOff x="609600" y="1928776"/>
            <a:chExt cx="1322869" cy="1600200"/>
          </a:xfrm>
        </p:grpSpPr>
        <p:sp>
          <p:nvSpPr>
            <p:cNvPr id="13" name="Flowchart: Magnetic Disk 5"/>
            <p:cNvSpPr/>
            <p:nvPr/>
          </p:nvSpPr>
          <p:spPr>
            <a:xfrm>
              <a:off x="609600" y="1928776"/>
              <a:ext cx="1322869" cy="1600200"/>
            </a:xfrm>
            <a:prstGeom prst="flowChartMagneticDisk">
              <a:avLst/>
            </a:prstGeom>
            <a:solidFill>
              <a:srgbClr val="FF8A29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b"/>
            <a:lstStyle/>
            <a:p>
              <a:pPr algn="ctr"/>
              <a:r>
                <a:rPr lang="fr-FR" sz="1600" dirty="0" err="1" smtClean="0">
                  <a:solidFill>
                    <a:schemeClr val="bg1"/>
                  </a:solidFill>
                </a:rPr>
                <a:t>Tool</a:t>
              </a:r>
              <a:r>
                <a:rPr lang="fr-FR" sz="1600" dirty="0" smtClean="0">
                  <a:solidFill>
                    <a:schemeClr val="bg1"/>
                  </a:solidFill>
                </a:rPr>
                <a:t> input format</a:t>
              </a:r>
            </a:p>
            <a:p>
              <a:pPr algn="ctr"/>
              <a:endParaRPr lang="fr-FR" sz="1600" dirty="0" smtClean="0">
                <a:solidFill>
                  <a:schemeClr val="bg1"/>
                </a:solidFill>
              </a:endParaRPr>
            </a:p>
          </p:txBody>
        </p:sp>
        <p:pic>
          <p:nvPicPr>
            <p:cNvPr id="14" name="Picture 5"/>
            <p:cNvPicPr>
              <a:picLocks noChangeAspect="1" noChangeArrowheads="1"/>
            </p:cNvPicPr>
            <p:nvPr/>
          </p:nvPicPr>
          <p:blipFill>
            <a:blip r:embed="rId4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63972" y="3036872"/>
              <a:ext cx="414123" cy="41412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  <p:sp>
        <p:nvSpPr>
          <p:cNvPr id="15" name="Rounded Rectangle 6"/>
          <p:cNvSpPr/>
          <p:nvPr/>
        </p:nvSpPr>
        <p:spPr>
          <a:xfrm>
            <a:off x="1506476" y="3724646"/>
            <a:ext cx="2286000" cy="596722"/>
          </a:xfrm>
          <a:prstGeom prst="roundRect">
            <a:avLst/>
          </a:prstGeom>
          <a:solidFill>
            <a:srgbClr val="FF8A2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600" dirty="0">
                <a:solidFill>
                  <a:schemeClr val="bg1"/>
                </a:solidFill>
              </a:rPr>
              <a:t>grid_to_coord.exe</a:t>
            </a:r>
            <a:endParaRPr lang="en-US" sz="1600" dirty="0">
              <a:solidFill>
                <a:schemeClr val="bg1"/>
              </a:solidFill>
            </a:endParaRPr>
          </a:p>
        </p:txBody>
      </p:sp>
      <p:grpSp>
        <p:nvGrpSpPr>
          <p:cNvPr id="16" name="Groupe 21"/>
          <p:cNvGrpSpPr/>
          <p:nvPr/>
        </p:nvGrpSpPr>
        <p:grpSpPr>
          <a:xfrm>
            <a:off x="4549697" y="3509725"/>
            <a:ext cx="1949074" cy="1113651"/>
            <a:chOff x="609600" y="1880224"/>
            <a:chExt cx="1322869" cy="1600200"/>
          </a:xfrm>
        </p:grpSpPr>
        <p:sp>
          <p:nvSpPr>
            <p:cNvPr id="17" name="Flowchart: Magnetic Disk 5"/>
            <p:cNvSpPr/>
            <p:nvPr/>
          </p:nvSpPr>
          <p:spPr>
            <a:xfrm>
              <a:off x="609600" y="1880224"/>
              <a:ext cx="1322869" cy="1600200"/>
            </a:xfrm>
            <a:prstGeom prst="flowChartMagneticDisk">
              <a:avLst/>
            </a:prstGeom>
            <a:solidFill>
              <a:srgbClr val="FF8A29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b"/>
            <a:lstStyle/>
            <a:p>
              <a:pPr algn="ctr"/>
              <a:r>
                <a:rPr lang="fr-FR" sz="1600" dirty="0" err="1" smtClean="0">
                  <a:solidFill>
                    <a:schemeClr val="bg1"/>
                  </a:solidFill>
                </a:rPr>
                <a:t>raw</a:t>
              </a:r>
              <a:r>
                <a:rPr lang="fr-FR" sz="1600" dirty="0" smtClean="0">
                  <a:solidFill>
                    <a:schemeClr val="bg1"/>
                  </a:solidFill>
                </a:rPr>
                <a:t> </a:t>
              </a:r>
              <a:r>
                <a:rPr lang="fr-FR" sz="1600" dirty="0" err="1" smtClean="0">
                  <a:solidFill>
                    <a:schemeClr val="bg1"/>
                  </a:solidFill>
                </a:rPr>
                <a:t>coordinate</a:t>
              </a:r>
              <a:r>
                <a:rPr lang="fr-FR" sz="1600" dirty="0" smtClean="0">
                  <a:solidFill>
                    <a:schemeClr val="bg1"/>
                  </a:solidFill>
                </a:rPr>
                <a:t> buffer (.</a:t>
              </a:r>
              <a:r>
                <a:rPr lang="fr-FR" sz="1600" dirty="0" err="1" smtClean="0">
                  <a:solidFill>
                    <a:schemeClr val="bg1"/>
                  </a:solidFill>
                </a:rPr>
                <a:t>pcm</a:t>
              </a:r>
              <a:r>
                <a:rPr lang="fr-FR" sz="1600" dirty="0" smtClean="0">
                  <a:solidFill>
                    <a:schemeClr val="bg1"/>
                  </a:solidFill>
                </a:rPr>
                <a:t>)</a:t>
              </a:r>
            </a:p>
            <a:p>
              <a:pPr algn="ctr"/>
              <a:endParaRPr lang="fr-FR" sz="1600" dirty="0" smtClean="0">
                <a:solidFill>
                  <a:schemeClr val="bg1"/>
                </a:solidFill>
              </a:endParaRPr>
            </a:p>
          </p:txBody>
        </p:sp>
        <p:pic>
          <p:nvPicPr>
            <p:cNvPr id="18" name="Picture 5"/>
            <p:cNvPicPr>
              <a:picLocks noChangeAspect="1" noChangeArrowheads="1"/>
            </p:cNvPicPr>
            <p:nvPr/>
          </p:nvPicPr>
          <p:blipFill>
            <a:blip r:embed="rId5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19845" y="3036871"/>
              <a:ext cx="302380" cy="41412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  <p:sp>
        <p:nvSpPr>
          <p:cNvPr id="19" name="Rounded Rectangle 6"/>
          <p:cNvSpPr/>
          <p:nvPr/>
        </p:nvSpPr>
        <p:spPr>
          <a:xfrm>
            <a:off x="1506476" y="5032567"/>
            <a:ext cx="2286000" cy="596722"/>
          </a:xfrm>
          <a:prstGeom prst="roundRect">
            <a:avLst/>
          </a:prstGeom>
          <a:solidFill>
            <a:srgbClr val="FF8A2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600" dirty="0">
                <a:solidFill>
                  <a:schemeClr val="bg1"/>
                </a:solidFill>
              </a:rPr>
              <a:t>gen_warp_header.exe</a:t>
            </a:r>
            <a:endParaRPr lang="en-US" sz="1600" dirty="0">
              <a:solidFill>
                <a:schemeClr val="bg1"/>
              </a:solidFill>
            </a:endParaRPr>
          </a:p>
        </p:txBody>
      </p:sp>
      <p:grpSp>
        <p:nvGrpSpPr>
          <p:cNvPr id="20" name="Groupe 24"/>
          <p:cNvGrpSpPr/>
          <p:nvPr/>
        </p:nvGrpSpPr>
        <p:grpSpPr>
          <a:xfrm>
            <a:off x="4534938" y="4831693"/>
            <a:ext cx="2116233" cy="999165"/>
            <a:chOff x="4211620" y="4790084"/>
            <a:chExt cx="1958660" cy="1600200"/>
          </a:xfrm>
        </p:grpSpPr>
        <p:sp>
          <p:nvSpPr>
            <p:cNvPr id="21" name="Flowchart: Magnetic Disk 5"/>
            <p:cNvSpPr/>
            <p:nvPr/>
          </p:nvSpPr>
          <p:spPr>
            <a:xfrm>
              <a:off x="4211620" y="4790084"/>
              <a:ext cx="1958660" cy="1600200"/>
            </a:xfrm>
            <a:prstGeom prst="flowChartMagneticDisk">
              <a:avLst/>
            </a:prstGeom>
            <a:solidFill>
              <a:srgbClr val="FF8A29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b"/>
            <a:lstStyle/>
            <a:p>
              <a:pPr algn="ctr"/>
              <a:r>
                <a:rPr lang="fr-FR" sz="1600" dirty="0" smtClean="0">
                  <a:solidFill>
                    <a:schemeClr val="bg1"/>
                  </a:solidFill>
                </a:rPr>
                <a:t>Compressed</a:t>
              </a:r>
            </a:p>
            <a:p>
              <a:pPr algn="ctr"/>
              <a:r>
                <a:rPr lang="fr-FR" sz="1600" dirty="0" err="1" smtClean="0">
                  <a:solidFill>
                    <a:schemeClr val="bg1"/>
                  </a:solidFill>
                </a:rPr>
                <a:t>Coordinate</a:t>
              </a:r>
              <a:r>
                <a:rPr lang="fr-FR" sz="1600" dirty="0" smtClean="0">
                  <a:solidFill>
                    <a:schemeClr val="bg1"/>
                  </a:solidFill>
                </a:rPr>
                <a:t> buffer</a:t>
              </a:r>
            </a:p>
            <a:p>
              <a:pPr algn="ctr"/>
              <a:endParaRPr lang="fr-FR" sz="1600" dirty="0" smtClean="0">
                <a:solidFill>
                  <a:schemeClr val="bg1"/>
                </a:solidFill>
              </a:endParaRPr>
            </a:p>
          </p:txBody>
        </p:sp>
        <p:pic>
          <p:nvPicPr>
            <p:cNvPr id="22" name="Picture 8"/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967773" y="5888545"/>
              <a:ext cx="45720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  <p:cxnSp>
        <p:nvCxnSpPr>
          <p:cNvPr id="23" name="Connecteur droit 27"/>
          <p:cNvCxnSpPr>
            <a:stCxn id="8" idx="4"/>
            <a:endCxn id="11" idx="1"/>
          </p:cNvCxnSpPr>
          <p:nvPr/>
        </p:nvCxnSpPr>
        <p:spPr bwMode="auto">
          <a:xfrm flipV="1">
            <a:off x="1506476" y="2550063"/>
            <a:ext cx="248005" cy="776"/>
          </a:xfrm>
          <a:prstGeom prst="line">
            <a:avLst/>
          </a:prstGeom>
          <a:solidFill>
            <a:schemeClr val="accent1"/>
          </a:solidFill>
          <a:ln w="15875" cap="flat" cmpd="sng" algn="ctr">
            <a:solidFill>
              <a:schemeClr val="hlink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4" name="Connecteur droit avec flèche 2048"/>
          <p:cNvCxnSpPr>
            <a:stCxn id="11" idx="3"/>
            <a:endCxn id="13" idx="2"/>
          </p:cNvCxnSpPr>
          <p:nvPr/>
        </p:nvCxnSpPr>
        <p:spPr bwMode="auto">
          <a:xfrm>
            <a:off x="4040481" y="2550063"/>
            <a:ext cx="178764" cy="231"/>
          </a:xfrm>
          <a:prstGeom prst="straightConnector1">
            <a:avLst/>
          </a:prstGeom>
          <a:solidFill>
            <a:schemeClr val="accent1"/>
          </a:solidFill>
          <a:ln w="15875" cap="flat" cmpd="sng" algn="ctr">
            <a:solidFill>
              <a:schemeClr val="hlink"/>
            </a:solidFill>
            <a:prstDash val="solid"/>
            <a:round/>
            <a:headEnd type="none" w="med" len="med"/>
            <a:tailEnd type="arrow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5" name="Connecteur en angle 2057"/>
          <p:cNvCxnSpPr>
            <a:stCxn id="13" idx="3"/>
            <a:endCxn id="15" idx="0"/>
          </p:cNvCxnSpPr>
          <p:nvPr/>
        </p:nvCxnSpPr>
        <p:spPr bwMode="auto">
          <a:xfrm rot="5400000">
            <a:off x="3615843" y="2340713"/>
            <a:ext cx="417566" cy="2350300"/>
          </a:xfrm>
          <a:prstGeom prst="bentConnector3">
            <a:avLst>
              <a:gd name="adj1" fmla="val 50000"/>
            </a:avLst>
          </a:prstGeom>
          <a:solidFill>
            <a:schemeClr val="accent1"/>
          </a:solidFill>
          <a:ln w="15875" cap="flat" cmpd="sng" algn="ctr">
            <a:solidFill>
              <a:schemeClr val="hlink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6" name="Connecteur droit avec flèche 2059"/>
          <p:cNvCxnSpPr>
            <a:endCxn id="17" idx="2"/>
          </p:cNvCxnSpPr>
          <p:nvPr/>
        </p:nvCxnSpPr>
        <p:spPr bwMode="auto">
          <a:xfrm>
            <a:off x="3792476" y="4066551"/>
            <a:ext cx="757221" cy="0"/>
          </a:xfrm>
          <a:prstGeom prst="straightConnector1">
            <a:avLst/>
          </a:prstGeom>
          <a:solidFill>
            <a:schemeClr val="accent1"/>
          </a:solidFill>
          <a:ln w="15875" cap="flat" cmpd="sng" algn="ctr">
            <a:solidFill>
              <a:schemeClr val="hlink"/>
            </a:solidFill>
            <a:prstDash val="solid"/>
            <a:round/>
            <a:headEnd type="none" w="med" len="med"/>
            <a:tailEnd type="arrow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7" name="Connecteur en angle 2061"/>
          <p:cNvCxnSpPr>
            <a:stCxn id="17" idx="3"/>
            <a:endCxn id="19" idx="0"/>
          </p:cNvCxnSpPr>
          <p:nvPr/>
        </p:nvCxnSpPr>
        <p:spPr bwMode="auto">
          <a:xfrm rot="5400000">
            <a:off x="3882260" y="3390592"/>
            <a:ext cx="409191" cy="2874758"/>
          </a:xfrm>
          <a:prstGeom prst="bentConnector3">
            <a:avLst>
              <a:gd name="adj1" fmla="val 50000"/>
            </a:avLst>
          </a:prstGeom>
          <a:solidFill>
            <a:schemeClr val="accent1"/>
          </a:solidFill>
          <a:ln w="15875" cap="flat" cmpd="sng" algn="ctr">
            <a:solidFill>
              <a:schemeClr val="hlink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8" name="Connecteur droit avec flèche 2065"/>
          <p:cNvCxnSpPr>
            <a:stCxn id="19" idx="3"/>
            <a:endCxn id="21" idx="2"/>
          </p:cNvCxnSpPr>
          <p:nvPr/>
        </p:nvCxnSpPr>
        <p:spPr bwMode="auto">
          <a:xfrm>
            <a:off x="3792476" y="5330928"/>
            <a:ext cx="742462" cy="348"/>
          </a:xfrm>
          <a:prstGeom prst="straightConnector1">
            <a:avLst/>
          </a:prstGeom>
          <a:solidFill>
            <a:schemeClr val="accent1"/>
          </a:solidFill>
          <a:ln w="15875" cap="flat" cmpd="sng" algn="ctr">
            <a:solidFill>
              <a:schemeClr val="hlink"/>
            </a:solidFill>
            <a:prstDash val="solid"/>
            <a:round/>
            <a:headEnd type="none" w="med" len="med"/>
            <a:tailEnd type="arrow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0" name="Content Placeholder 29"/>
          <p:cNvSpPr>
            <a:spLocks noGrp="1"/>
          </p:cNvSpPr>
          <p:nvPr>
            <p:ph idx="1"/>
          </p:nvPr>
        </p:nvSpPr>
        <p:spPr>
          <a:xfrm>
            <a:off x="368299" y="1371600"/>
            <a:ext cx="11116129" cy="4805363"/>
          </a:xfrm>
        </p:spPr>
        <p:txBody>
          <a:bodyPr/>
          <a:lstStyle/>
          <a:p>
            <a:pPr marL="0" indent="0">
              <a:buNone/>
            </a:pPr>
            <a:r>
              <a:rPr lang="en-US" dirty="0" smtClean="0"/>
              <a:t>Coordinate Buffer Creation</a:t>
            </a:r>
            <a:endParaRPr lang="en-US" dirty="0"/>
          </a:p>
        </p:txBody>
      </p:sp>
      <p:cxnSp>
        <p:nvCxnSpPr>
          <p:cNvPr id="58" name="Straight Arrow Connector 57"/>
          <p:cNvCxnSpPr>
            <a:stCxn id="21" idx="4"/>
            <a:endCxn id="29" idx="1"/>
          </p:cNvCxnSpPr>
          <p:nvPr/>
        </p:nvCxnSpPr>
        <p:spPr>
          <a:xfrm flipV="1">
            <a:off x="6651171" y="5013292"/>
            <a:ext cx="1153885" cy="31798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Rectangle 37"/>
          <p:cNvSpPr/>
          <p:nvPr/>
        </p:nvSpPr>
        <p:spPr>
          <a:xfrm>
            <a:off x="7424057" y="1654629"/>
            <a:ext cx="2264229" cy="452845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dirty="0" smtClean="0"/>
              <a:t>UI Application</a:t>
            </a:r>
            <a:endParaRPr lang="en-US" dirty="0"/>
          </a:p>
        </p:txBody>
      </p:sp>
      <p:sp>
        <p:nvSpPr>
          <p:cNvPr id="29" name="Rectangle 28"/>
          <p:cNvSpPr/>
          <p:nvPr/>
        </p:nvSpPr>
        <p:spPr>
          <a:xfrm>
            <a:off x="7805056" y="3941469"/>
            <a:ext cx="1621973" cy="2143645"/>
          </a:xfrm>
          <a:prstGeom prst="rect">
            <a:avLst/>
          </a:prstGeom>
          <a:solidFill>
            <a:schemeClr val="accent3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Include the co-ordinate buffer in “</a:t>
            </a:r>
            <a:r>
              <a:rPr lang="en-US" dirty="0"/>
              <a:t>hmi_gfx_mgr02_warp_tables.cfg </a:t>
            </a:r>
            <a:r>
              <a:rPr lang="en-US" dirty="0" smtClean="0"/>
              <a:t>“</a:t>
            </a:r>
            <a:endParaRPr lang="en-US" dirty="0"/>
          </a:p>
        </p:txBody>
      </p:sp>
      <p:sp>
        <p:nvSpPr>
          <p:cNvPr id="37" name="Rectangle 36"/>
          <p:cNvSpPr/>
          <p:nvPr/>
        </p:nvSpPr>
        <p:spPr>
          <a:xfrm>
            <a:off x="7745184" y="2071084"/>
            <a:ext cx="1741715" cy="1656361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Enable the warp feature in GDT(Refer Slide 4 and 6) </a:t>
            </a:r>
            <a:endParaRPr lang="en-US" dirty="0"/>
          </a:p>
        </p:txBody>
      </p:sp>
      <p:sp>
        <p:nvSpPr>
          <p:cNvPr id="42" name="Rectangle 41"/>
          <p:cNvSpPr/>
          <p:nvPr/>
        </p:nvSpPr>
        <p:spPr>
          <a:xfrm>
            <a:off x="10058400" y="1654629"/>
            <a:ext cx="1719943" cy="452845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dirty="0" err="1" smtClean="0"/>
              <a:t>ui.core.gdt</a:t>
            </a:r>
            <a:endParaRPr lang="en-US" dirty="0"/>
          </a:p>
        </p:txBody>
      </p:sp>
      <p:sp>
        <p:nvSpPr>
          <p:cNvPr id="43" name="Rectangle 42"/>
          <p:cNvSpPr/>
          <p:nvPr/>
        </p:nvSpPr>
        <p:spPr>
          <a:xfrm>
            <a:off x="10303328" y="4184674"/>
            <a:ext cx="1230086" cy="828617"/>
          </a:xfrm>
          <a:prstGeom prst="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Iris Driver</a:t>
            </a:r>
            <a:endParaRPr lang="en-US" dirty="0"/>
          </a:p>
        </p:txBody>
      </p:sp>
      <p:sp>
        <p:nvSpPr>
          <p:cNvPr id="44" name="Rectangle 43"/>
          <p:cNvSpPr/>
          <p:nvPr/>
        </p:nvSpPr>
        <p:spPr>
          <a:xfrm>
            <a:off x="10303328" y="3362801"/>
            <a:ext cx="1230086" cy="821873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 smtClean="0"/>
              <a:t>Gfx</a:t>
            </a:r>
            <a:r>
              <a:rPr lang="en-US" dirty="0" smtClean="0"/>
              <a:t> Manager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23271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Usage through GDT –Warping through Display Controller</a:t>
            </a:r>
            <a:endParaRPr lang="en-US" dirty="0"/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For Warping through Display Controller, the Plane Type in the Project Settings of the GDT must be selected as </a:t>
            </a:r>
            <a:r>
              <a:rPr lang="en-US" b="1" dirty="0" smtClean="0"/>
              <a:t>Warp</a:t>
            </a:r>
            <a:r>
              <a:rPr lang="en-US" dirty="0" smtClean="0"/>
              <a:t>.</a:t>
            </a:r>
          </a:p>
          <a:p>
            <a:r>
              <a:rPr lang="en-US" dirty="0" smtClean="0"/>
              <a:t>By default the coordinate buffer index value for this is generated as ‘0’.</a:t>
            </a:r>
            <a:endParaRPr lang="en-US" dirty="0"/>
          </a:p>
          <a:p>
            <a:endParaRPr lang="en-US" dirty="0"/>
          </a:p>
        </p:txBody>
      </p:sp>
      <p:sp>
        <p:nvSpPr>
          <p:cNvPr id="9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4724400" y="6483350"/>
            <a:ext cx="2743200" cy="365125"/>
          </a:xfrm>
        </p:spPr>
        <p:txBody>
          <a:bodyPr/>
          <a:lstStyle/>
          <a:p>
            <a:fld id="{CB6FB6F8-9286-4034-9F49-2B746BE500DC}" type="slidenum">
              <a:rPr lang="en-US" smtClean="0"/>
              <a:t>5</a:t>
            </a:fld>
            <a:endParaRPr lang="en-US" dirty="0"/>
          </a:p>
        </p:txBody>
      </p:sp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3285" y="2716666"/>
            <a:ext cx="9934575" cy="336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0596960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Usage through GDT –Warping through </a:t>
            </a:r>
            <a:r>
              <a:rPr lang="en-US" dirty="0" err="1" smtClean="0"/>
              <a:t>Blit</a:t>
            </a:r>
            <a:r>
              <a:rPr lang="en-US" dirty="0" smtClean="0"/>
              <a:t> Engine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For Warping using </a:t>
            </a:r>
            <a:r>
              <a:rPr lang="en-US" dirty="0" err="1" smtClean="0"/>
              <a:t>Blit</a:t>
            </a:r>
            <a:r>
              <a:rPr lang="en-US" dirty="0" smtClean="0"/>
              <a:t> Engine, the warp id of the widget need to be set other than the default value(</a:t>
            </a:r>
            <a:r>
              <a:rPr lang="en-US" dirty="0" err="1" smtClean="0"/>
              <a:t>i.e</a:t>
            </a:r>
            <a:r>
              <a:rPr lang="en-US" dirty="0" smtClean="0"/>
              <a:t> 255).</a:t>
            </a:r>
          </a:p>
          <a:p>
            <a:r>
              <a:rPr lang="en-US" dirty="0" smtClean="0"/>
              <a:t>The GDT will look for the Coordinate buffer with index value mentioned in the Warp id of widget property.</a:t>
            </a:r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6FB6F8-9286-4034-9F49-2B746BE500DC}" type="slidenum">
              <a:rPr lang="en-US" smtClean="0"/>
              <a:t>6</a:t>
            </a:fld>
            <a:endParaRPr lang="en-US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42076" y="2688772"/>
            <a:ext cx="3263218" cy="35147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7164376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For Further Details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smtClean="0"/>
              <a:t>Please refer the below document for further details.</a:t>
            </a:r>
          </a:p>
          <a:p>
            <a:pPr marL="0" indent="0">
              <a:buNone/>
            </a:pPr>
            <a:r>
              <a:rPr lang="en-US" dirty="0" smtClean="0"/>
              <a:t>1.</a:t>
            </a:r>
            <a:r>
              <a:rPr lang="en-US" dirty="0"/>
              <a:t> The warping tool </a:t>
            </a:r>
            <a:r>
              <a:rPr lang="en-US" dirty="0" smtClean="0"/>
              <a:t>usage details available in the below path.</a:t>
            </a:r>
            <a:endParaRPr lang="en-US" dirty="0"/>
          </a:p>
          <a:p>
            <a:pPr marL="0" indent="0">
              <a:buNone/>
            </a:pPr>
            <a:r>
              <a:rPr lang="en-US" u="sng" dirty="0">
                <a:hlinkClick r:id="rId2"/>
              </a:rPr>
              <a:t>http://hub.visteon.com/enterProj/cgi-bin/loginep.pl?http://enterproj.visteon.com/enterproj/spm_proj_docs_list?p_proj_id=12027&amp;p_attachment_id=1178988&amp;p_doctype=PROJECT&amp;p_show=ALL#D1178988</a:t>
            </a:r>
            <a:endParaRPr lang="en-US" dirty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2. </a:t>
            </a:r>
            <a:r>
              <a:rPr lang="en-US" dirty="0"/>
              <a:t>Kepler2 Graphics </a:t>
            </a:r>
            <a:r>
              <a:rPr lang="en-US" dirty="0" smtClean="0"/>
              <a:t>Characterization</a:t>
            </a:r>
          </a:p>
          <a:p>
            <a:pPr marL="0" indent="0">
              <a:buNone/>
            </a:pPr>
            <a:r>
              <a:rPr lang="en-US" u="sng" dirty="0">
                <a:hlinkClick r:id="rId3"/>
              </a:rPr>
              <a:t>http://hub.visteon.com/enterProj/cgi-bin/loginep.pl?http://enterproj.visteon.com/enterproj/spm_proj_docs_list?p_proj_id=12027&amp;p_attachment_id=1236697&amp;p_doctype=PROJECT&amp;p_show=ALL#D1236697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6FB6F8-9286-4034-9F49-2B746BE500DC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75298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641988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Warping Feature Usage Through GDT">
  <a:themeElements>
    <a:clrScheme name="Paper">
      <a:dk1>
        <a:sysClr val="windowText" lastClr="000000"/>
      </a:dk1>
      <a:lt1>
        <a:sysClr val="window" lastClr="FFFFFF"/>
      </a:lt1>
      <a:dk2>
        <a:srgbClr val="444D26"/>
      </a:dk2>
      <a:lt2>
        <a:srgbClr val="FEFAC9"/>
      </a:lt2>
      <a:accent1>
        <a:srgbClr val="A5B592"/>
      </a:accent1>
      <a:accent2>
        <a:srgbClr val="F3A447"/>
      </a:accent2>
      <a:accent3>
        <a:srgbClr val="E7BC29"/>
      </a:accent3>
      <a:accent4>
        <a:srgbClr val="D092A7"/>
      </a:accent4>
      <a:accent5>
        <a:srgbClr val="9C85C0"/>
      </a:accent5>
      <a:accent6>
        <a:srgbClr val="809EC2"/>
      </a:accent6>
      <a:hlink>
        <a:srgbClr val="8E58B6"/>
      </a:hlink>
      <a:folHlink>
        <a:srgbClr val="7F6F6F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Visteon_Presentation_Template.pptx" id="{F2F984FB-2922-4C3A-84D9-7BF199CED82C}" vid="{E441F9E7-4264-4932-A0B3-8DD87054245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Warping Feature Usage Through GDT</Template>
  <TotalTime>352</TotalTime>
  <Words>498</Words>
  <Application>Microsoft Office PowerPoint</Application>
  <PresentationFormat>Custom</PresentationFormat>
  <Paragraphs>85</Paragraphs>
  <Slides>8</Slides>
  <Notes>5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Warping Feature Usage Through GDT</vt:lpstr>
      <vt:lpstr>Warping Feature Usage Through GDT</vt:lpstr>
      <vt:lpstr>Overview</vt:lpstr>
      <vt:lpstr>Input from Optics Engineer</vt:lpstr>
      <vt:lpstr>Warping Work flow</vt:lpstr>
      <vt:lpstr>Usage through GDT –Warping through Display Controller</vt:lpstr>
      <vt:lpstr>Usage through GDT –Warping through Blit Engine</vt:lpstr>
      <vt:lpstr>For Further Details</vt:lpstr>
      <vt:lpstr>PowerPoint Presentation</vt:lpstr>
    </vt:vector>
  </TitlesOfParts>
  <Company>Visteon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Warping Feature Usage Through GDT</dc:title>
  <dc:creator>SIGAMANI, SATHISHKUMAR (S.)</dc:creator>
  <cp:lastModifiedBy>SIGAMANI, SATHISHKUMAR (S.)</cp:lastModifiedBy>
  <cp:revision>35</cp:revision>
  <dcterms:created xsi:type="dcterms:W3CDTF">2016-10-14T11:39:16Z</dcterms:created>
  <dcterms:modified xsi:type="dcterms:W3CDTF">2016-10-17T09:23:38Z</dcterms:modified>
</cp:coreProperties>
</file>