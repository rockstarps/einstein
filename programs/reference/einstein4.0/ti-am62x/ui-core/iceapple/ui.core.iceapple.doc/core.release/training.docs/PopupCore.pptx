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4" r:id="rId2"/>
    <p:sldMasterId id="2147483697" r:id="rId3"/>
  </p:sldMasterIdLst>
  <p:notesMasterIdLst>
    <p:notesMasterId r:id="rId24"/>
  </p:notesMasterIdLst>
  <p:sldIdLst>
    <p:sldId id="258" r:id="rId4"/>
    <p:sldId id="260" r:id="rId5"/>
    <p:sldId id="261" r:id="rId6"/>
    <p:sldId id="266" r:id="rId7"/>
    <p:sldId id="267" r:id="rId8"/>
    <p:sldId id="268" r:id="rId9"/>
    <p:sldId id="269" r:id="rId10"/>
    <p:sldId id="262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81" r:id="rId21"/>
    <p:sldId id="279" r:id="rId22"/>
    <p:sldId id="280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92" autoAdjust="0"/>
  </p:normalViewPr>
  <p:slideViewPr>
    <p:cSldViewPr>
      <p:cViewPr varScale="1">
        <p:scale>
          <a:sx n="100" d="100"/>
          <a:sy n="100" d="100"/>
        </p:scale>
        <p:origin x="-20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13BCF-C087-4A75-B290-AD0894AE2D91}" type="datetimeFigureOut">
              <a:rPr lang="en-US" smtClean="0"/>
              <a:t>3/25/2015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68E8C-DEBC-4D83-B104-6E49B8D52C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553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1pPr>
            <a:lvl2pPr marL="742950" indent="-28575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2pPr>
            <a:lvl3pPr marL="11430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3pPr>
            <a:lvl4pPr marL="16002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4pPr>
            <a:lvl5pPr marL="2057400" indent="-228600" defTabSz="966788" eaLnBrk="0" hangingPunct="0"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itchFamily="34" charset="0"/>
                <a:cs typeface="Arial" charset="0"/>
              </a:defRPr>
            </a:lvl9pPr>
          </a:lstStyle>
          <a:p>
            <a:pPr eaLnBrk="1" hangingPunct="1"/>
            <a:fld id="{DCFB02D5-7FC1-447B-99D9-69BE312C6BEB}" type="slidenum">
              <a:rPr lang="en-US" sz="1300" b="0" smtClean="0">
                <a:solidFill>
                  <a:prstClr val="black"/>
                </a:solidFill>
                <a:latin typeface="Arial" charset="0"/>
              </a:rPr>
              <a:pPr eaLnBrk="1" hangingPunct="1"/>
              <a:t>1</a:t>
            </a:fld>
            <a:endParaRPr lang="en-US" sz="1300" b="0" dirty="0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dirty="0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" r="4454"/>
          <a:stretch>
            <a:fillRect/>
          </a:stretch>
        </p:blipFill>
        <p:spPr bwMode="auto">
          <a:xfrm>
            <a:off x="0" y="3878263"/>
            <a:ext cx="9144000" cy="25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27013" y="6615113"/>
            <a:ext cx="4030662" cy="12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800">
                <a:solidFill>
                  <a:srgbClr val="5F5F5F"/>
                </a:solidFill>
              </a:rPr>
              <a:t>Strictly Private and Confidential</a:t>
            </a:r>
          </a:p>
        </p:txBody>
      </p:sp>
      <p:pic>
        <p:nvPicPr>
          <p:cNvPr id="6" name="Picture 4" descr="VisteonLOGOc-20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3" y="582613"/>
            <a:ext cx="2736850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429000"/>
            <a:ext cx="7775575" cy="544513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/>
          <a:lstStyle>
            <a:lvl1pPr marL="0" indent="0" algn="r">
              <a:spcBef>
                <a:spcPct val="0"/>
              </a:spcBef>
              <a:buFont typeface="Wingdings 2" pitchFamily="18" charset="2"/>
              <a:buNone/>
              <a:defRPr sz="1500">
                <a:solidFill>
                  <a:srgbClr val="777777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993775" y="2755900"/>
            <a:ext cx="7772400" cy="66992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 algn="r">
              <a:spcBef>
                <a:spcPct val="75000"/>
              </a:spcBef>
              <a:buClr>
                <a:schemeClr val="tx2"/>
              </a:buClr>
              <a:buFont typeface="Wingdings 2" pitchFamily="18" charset="2"/>
              <a:buNone/>
              <a:defRPr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3999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4AB5F369-4436-47A7-922E-B9DBBB27244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12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60BEF8C1-5E97-42C6-8232-3F367F405861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6027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22263" y="950913"/>
            <a:ext cx="4173537" cy="527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950913"/>
            <a:ext cx="4173538" cy="527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1235F41F-2EC5-4085-8C1D-9653BD7832F6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33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B1E6CE02-84C4-44BA-9923-1757F2EF917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0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80C3D74F-F3AC-4123-987A-32BCD4E8486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721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941DEB33-009E-4052-BA2B-8048D4E4021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18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2E1B9BF7-A26C-477D-BAAE-01D453DAC478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93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69CBBF72-46DD-4746-8A1E-62DFD6F8F69C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2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2A2C23C7-2D1B-4574-A4B1-F91AF58E2843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37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97663" y="122238"/>
            <a:ext cx="2124075" cy="610235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22263" y="122238"/>
            <a:ext cx="6223000" cy="61023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91F1BC0E-0F1A-45D0-AEC8-00CF17524FA7}" type="slidenum">
              <a:rPr lang="en-US">
                <a:solidFill>
                  <a:srgbClr val="969696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395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2" descr="Titl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9850"/>
            <a:ext cx="89916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25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0525" y="5640388"/>
            <a:ext cx="6532563" cy="474662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7258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395288" y="4505325"/>
            <a:ext cx="8359775" cy="118903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1600" y="6438900"/>
            <a:ext cx="2459038" cy="457200"/>
          </a:xfrm>
        </p:spPr>
        <p:txBody>
          <a:bodyPr/>
          <a:lstStyle>
            <a:lvl1pPr>
              <a:defRPr>
                <a:solidFill>
                  <a:srgbClr val="5F5F5F"/>
                </a:solidFill>
              </a:defRPr>
            </a:lvl1pPr>
          </a:lstStyle>
          <a:p>
            <a:pPr>
              <a:defRPr/>
            </a:pPr>
            <a:fld id="{49E5064E-D9E7-4715-AA7D-A29CC1BD1631}" type="slidenum">
              <a:rPr lang="en-US"/>
              <a:pPr>
                <a:defRPr/>
              </a:pPr>
              <a:t>‹#›</a:t>
            </a:fld>
            <a:r>
              <a:rPr lang="en-US" dirty="0"/>
              <a:t>   Visteon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72611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E2E46-79E7-44E6-A0A7-D7BD907EC26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4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95818-23B2-44FE-9F85-51F7A5A2049F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1046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575" y="1138238"/>
            <a:ext cx="4087813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138238"/>
            <a:ext cx="4087812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B4902-04B4-4291-860B-BBDC9D7DB1F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6701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DF41B-022C-48A3-ACF9-B453854A3F4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26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4C41C-55FD-46FA-9437-A14AE62073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651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0F4F8-0D77-4769-8209-A0BCD8D871B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7120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886E8-FCFF-48E5-B175-AD82900AD894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805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743AF-9E9A-41D6-91F5-E1F13C5CF7F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9046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D38C4-91E5-465C-9594-B4E01078109A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391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173038"/>
            <a:ext cx="2151062" cy="58880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350" y="173038"/>
            <a:ext cx="6300788" cy="58880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67275-3458-44B3-802B-E53D4AD16BF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625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173038"/>
            <a:ext cx="7694613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9575" y="1138238"/>
            <a:ext cx="8328025" cy="49228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3BAEB-D7D6-48E8-9545-FBFCF0EB32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5513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2" descr="Titl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9850"/>
            <a:ext cx="8991600" cy="671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25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90525" y="5640388"/>
            <a:ext cx="6532563" cy="474662"/>
          </a:xfrm>
        </p:spPr>
        <p:txBody>
          <a:bodyPr/>
          <a:lstStyle>
            <a:lvl1pPr marL="0" indent="0">
              <a:spcBef>
                <a:spcPct val="0"/>
              </a:spcBef>
              <a:buFontTx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72586" name="Rectangle 10"/>
          <p:cNvSpPr>
            <a:spLocks noGrp="1" noChangeArrowheads="1"/>
          </p:cNvSpPr>
          <p:nvPr>
            <p:ph type="ctrTitle"/>
          </p:nvPr>
        </p:nvSpPr>
        <p:spPr>
          <a:xfrm>
            <a:off x="395288" y="4505325"/>
            <a:ext cx="8359775" cy="1189038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1600" y="6438900"/>
            <a:ext cx="2459038" cy="457200"/>
          </a:xfrm>
        </p:spPr>
        <p:txBody>
          <a:bodyPr/>
          <a:lstStyle>
            <a:lvl1pPr>
              <a:defRPr>
                <a:solidFill>
                  <a:srgbClr val="5F5F5F"/>
                </a:solidFill>
              </a:defRPr>
            </a:lvl1pPr>
          </a:lstStyle>
          <a:p>
            <a:pPr>
              <a:defRPr/>
            </a:pPr>
            <a:fld id="{49E5064E-D9E7-4715-AA7D-A29CC1BD1631}" type="slidenum">
              <a:rPr lang="en-US"/>
              <a:pPr>
                <a:defRPr/>
              </a:pPr>
              <a:t>‹#›</a:t>
            </a:fld>
            <a:r>
              <a:rPr lang="en-US" dirty="0"/>
              <a:t>   Visteon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068437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E2E46-79E7-44E6-A0A7-D7BD907EC26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1553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595818-23B2-44FE-9F85-51F7A5A2049F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53561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575" y="1138238"/>
            <a:ext cx="4087813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9788" y="1138238"/>
            <a:ext cx="4087812" cy="49228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9B4902-04B4-4291-860B-BBDC9D7DB1F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0929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EDF41B-022C-48A3-ACF9-B453854A3F4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2977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14C41C-55FD-46FA-9437-A14AE62073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3171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0F4F8-0D77-4769-8209-A0BCD8D871B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6667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886E8-FCFF-48E5-B175-AD82900AD894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915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E743AF-9E9A-41D6-91F5-E1F13C5CF7F3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4811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D38C4-91E5-465C-9594-B4E01078109A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813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538" y="173038"/>
            <a:ext cx="2151062" cy="58880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350" y="173038"/>
            <a:ext cx="6300788" cy="58880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67275-3458-44B3-802B-E53D4AD16BF9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33702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350" y="173038"/>
            <a:ext cx="7694613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09575" y="1138238"/>
            <a:ext cx="8328025" cy="49228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A3BAEB-D7D6-48E8-9545-FBFCF0EB3280}" type="slidenum">
              <a:rPr lang="en-US">
                <a:solidFill>
                  <a:srgbClr val="FFFFFF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8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4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VisteonLogo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38100"/>
            <a:ext cx="1319212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2263" y="950913"/>
            <a:ext cx="8499475" cy="527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2263" y="122238"/>
            <a:ext cx="7500937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-14288" y="642938"/>
            <a:ext cx="7637463" cy="0"/>
          </a:xfrm>
          <a:prstGeom prst="line">
            <a:avLst/>
          </a:prstGeom>
          <a:noFill/>
          <a:ln w="28575">
            <a:solidFill>
              <a:srgbClr val="FF7D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1400" b="1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400" y="6581775"/>
            <a:ext cx="1096963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900" b="0">
                <a:solidFill>
                  <a:schemeClr val="bg2"/>
                </a:solidFill>
                <a:latin typeface="+mn-lt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>
                <a:solidFill>
                  <a:srgbClr val="969696"/>
                </a:solidFill>
              </a:rPr>
              <a:t>Page </a:t>
            </a:r>
            <a:fld id="{751C4243-9DDE-4A1A-8E85-5A8A7FCA294A}" type="slidenum">
              <a:rPr lang="en-US">
                <a:solidFill>
                  <a:srgbClr val="969696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969696"/>
              </a:solidFill>
            </a:endParaRP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>
            <a:off x="222250" y="6478588"/>
            <a:ext cx="8707438" cy="0"/>
          </a:xfrm>
          <a:prstGeom prst="line">
            <a:avLst/>
          </a:prstGeom>
          <a:noFill/>
          <a:ln w="19050">
            <a:solidFill>
              <a:srgbClr val="C0C0C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sz="1400" b="1">
              <a:solidFill>
                <a:srgbClr val="000000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472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00"/>
          </a:solidFill>
          <a:latin typeface="Arial" pitchFamily="34" charset="0"/>
          <a:cs typeface="Arial" pitchFamily="34" charset="0"/>
        </a:defRPr>
      </a:lvl9pPr>
    </p:titleStyle>
    <p:bodyStyle>
      <a:lvl1pPr marL="228600" indent="-228600" algn="l" rtl="0" eaLnBrk="0" fontAlgn="base" hangingPunct="0">
        <a:spcBef>
          <a:spcPct val="75000"/>
        </a:spcBef>
        <a:spcAft>
          <a:spcPct val="0"/>
        </a:spcAft>
        <a:buClr>
          <a:srgbClr val="333333"/>
        </a:buClr>
        <a:buFont typeface="Wingdings 2" pitchFamily="18" charset="2"/>
        <a:buChar char=""/>
        <a:defRPr>
          <a:solidFill>
            <a:srgbClr val="333333"/>
          </a:solidFill>
          <a:latin typeface="+mn-lt"/>
          <a:ea typeface="+mn-ea"/>
          <a:cs typeface="+mn-cs"/>
        </a:defRPr>
      </a:lvl1pPr>
      <a:lvl2pPr marL="455613" indent="-225425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2pPr>
      <a:lvl3pPr marL="6842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Wingdings" pitchFamily="2" charset="2"/>
        <a:buChar char="§"/>
        <a:defRPr>
          <a:solidFill>
            <a:srgbClr val="333333"/>
          </a:solidFill>
          <a:latin typeface="+mn-lt"/>
          <a:cs typeface="+mn-cs"/>
        </a:defRPr>
      </a:lvl3pPr>
      <a:lvl4pPr marL="9128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Wingdings 2" pitchFamily="18" charset="2"/>
        <a:buChar char=""/>
        <a:defRPr>
          <a:solidFill>
            <a:srgbClr val="333333"/>
          </a:solidFill>
          <a:latin typeface="+mn-lt"/>
          <a:cs typeface="+mn-cs"/>
        </a:defRPr>
      </a:lvl4pPr>
      <a:lvl5pPr marL="1141413" indent="-227013" algn="l" rtl="0" eaLnBrk="0" fontAlgn="base" hangingPunct="0">
        <a:spcBef>
          <a:spcPct val="25000"/>
        </a:spcBef>
        <a:spcAft>
          <a:spcPct val="0"/>
        </a:spcAft>
        <a:buClr>
          <a:srgbClr val="333333"/>
        </a:buClr>
        <a:buFont typeface="Arial" charset="0"/>
        <a:buChar char="–"/>
        <a:defRPr>
          <a:solidFill>
            <a:srgbClr val="333333"/>
          </a:solidFill>
          <a:latin typeface="+mn-lt"/>
          <a:cs typeface="+mn-cs"/>
        </a:defRPr>
      </a:lvl5pPr>
      <a:lvl6pPr marL="15986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6pPr>
      <a:lvl7pPr marL="20558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7pPr>
      <a:lvl8pPr marL="25130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8pPr>
      <a:lvl9pPr marL="2970213" indent="-227013" algn="l" rtl="0" fontAlgn="base">
        <a:spcBef>
          <a:spcPct val="25000"/>
        </a:spcBef>
        <a:spcAft>
          <a:spcPct val="0"/>
        </a:spcAft>
        <a:buClr>
          <a:srgbClr val="333333"/>
        </a:buClr>
        <a:buFont typeface="Arial" pitchFamily="34" charset="0"/>
        <a:buChar char="–"/>
        <a:defRPr>
          <a:solidFill>
            <a:srgbClr val="333333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8" descr="ColorWhtBackgrou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5" y="109538"/>
            <a:ext cx="12588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3"/>
          <p:cNvSpPr>
            <a:spLocks noChangeArrowheads="1"/>
          </p:cNvSpPr>
          <p:nvPr/>
        </p:nvSpPr>
        <p:spPr bwMode="auto">
          <a:xfrm>
            <a:off x="0" y="6464300"/>
            <a:ext cx="9144000" cy="2667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75" y="1138238"/>
            <a:ext cx="8328025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Line 8"/>
          <p:cNvSpPr>
            <a:spLocks noChangeShapeType="1"/>
          </p:cNvSpPr>
          <p:nvPr/>
        </p:nvSpPr>
        <p:spPr bwMode="auto">
          <a:xfrm>
            <a:off x="-14288" y="973138"/>
            <a:ext cx="915828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0" y="6540500"/>
            <a:ext cx="9144000" cy="31750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071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2700" y="6527800"/>
            <a:ext cx="255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F0D36A63-1670-4947-BB67-B4978C0AD0E4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 fontAlgn="base"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350" y="173038"/>
            <a:ext cx="7694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56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2500">
          <a:solidFill>
            <a:schemeClr val="tx1"/>
          </a:solidFill>
          <a:latin typeface="+mn-lt"/>
        </a:defRPr>
      </a:lvl2pPr>
      <a:lvl3pPr marL="10287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2000">
          <a:solidFill>
            <a:schemeClr val="tx1"/>
          </a:solidFill>
          <a:latin typeface="+mn-lt"/>
        </a:defRPr>
      </a:lvl3pPr>
      <a:lvl4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1600">
          <a:solidFill>
            <a:schemeClr val="tx1"/>
          </a:solidFill>
          <a:latin typeface="+mn-lt"/>
        </a:defRPr>
      </a:lvl4pPr>
      <a:lvl5pPr marL="18288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5pPr>
      <a:lvl6pPr marL="22860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6pPr>
      <a:lvl7pPr marL="27432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7pPr>
      <a:lvl8pPr marL="32004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8pPr>
      <a:lvl9pPr marL="36576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8" descr="ColorWhtBackground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25" y="109538"/>
            <a:ext cx="1258888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3"/>
          <p:cNvSpPr>
            <a:spLocks noChangeArrowheads="1"/>
          </p:cNvSpPr>
          <p:nvPr/>
        </p:nvSpPr>
        <p:spPr bwMode="auto">
          <a:xfrm>
            <a:off x="0" y="6464300"/>
            <a:ext cx="9144000" cy="26670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9575" y="1138238"/>
            <a:ext cx="8328025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029" name="Line 8"/>
          <p:cNvSpPr>
            <a:spLocks noChangeShapeType="1"/>
          </p:cNvSpPr>
          <p:nvPr/>
        </p:nvSpPr>
        <p:spPr bwMode="auto">
          <a:xfrm>
            <a:off x="-14288" y="973138"/>
            <a:ext cx="9158288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1030" name="Rectangle 25"/>
          <p:cNvSpPr>
            <a:spLocks noChangeArrowheads="1"/>
          </p:cNvSpPr>
          <p:nvPr/>
        </p:nvSpPr>
        <p:spPr bwMode="auto">
          <a:xfrm>
            <a:off x="0" y="6540500"/>
            <a:ext cx="9144000" cy="317500"/>
          </a:xfrm>
          <a:prstGeom prst="rect">
            <a:avLst/>
          </a:prstGeom>
          <a:solidFill>
            <a:srgbClr val="5F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207156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12700" y="6527800"/>
            <a:ext cx="25558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pPr fontAlgn="base">
              <a:spcAft>
                <a:spcPct val="0"/>
              </a:spcAft>
              <a:defRPr/>
            </a:pPr>
            <a:fld id="{F0D36A63-1670-4947-BB67-B4978C0AD0E4}" type="slidenum">
              <a:rPr lang="en-US">
                <a:solidFill>
                  <a:srgbClr val="FFFFFF"/>
                </a:solidFill>
              </a:rPr>
              <a:pPr fontAlgn="base">
                <a:spcAft>
                  <a:spcPct val="0"/>
                </a:spcAft>
                <a:defRPr/>
              </a:pPr>
              <a:t>‹#›</a:t>
            </a:fld>
            <a:r>
              <a:rPr lang="en-US">
                <a:solidFill>
                  <a:srgbClr val="FFFFFF"/>
                </a:solidFill>
              </a:rPr>
              <a:t>    Visteon Confidential</a:t>
            </a:r>
          </a:p>
          <a:p>
            <a:pPr fontAlgn="base">
              <a:spcAft>
                <a:spcPct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03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350" y="173038"/>
            <a:ext cx="76946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9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2pPr>
      <a:lvl3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3pPr>
      <a:lvl4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4pPr>
      <a:lvl5pPr algn="l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5pPr>
      <a:lvl6pPr marL="4572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6pPr>
      <a:lvl7pPr marL="9144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7pPr>
      <a:lvl8pPr marL="13716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8pPr>
      <a:lvl9pPr marL="1828800" algn="l" rtl="0" fontAlgn="base">
        <a:lnSpc>
          <a:spcPct val="8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9pPr>
    </p:titleStyle>
    <p:bodyStyle>
      <a:lvl1pPr marL="228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2500">
          <a:solidFill>
            <a:schemeClr val="tx1"/>
          </a:solidFill>
          <a:latin typeface="+mn-lt"/>
        </a:defRPr>
      </a:lvl2pPr>
      <a:lvl3pPr marL="10287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2000">
          <a:solidFill>
            <a:schemeClr val="tx1"/>
          </a:solidFill>
          <a:latin typeface="+mn-lt"/>
        </a:defRPr>
      </a:lvl3pPr>
      <a:lvl4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–"/>
        <a:defRPr sz="1600">
          <a:solidFill>
            <a:schemeClr val="tx1"/>
          </a:solidFill>
          <a:latin typeface="+mn-lt"/>
        </a:defRPr>
      </a:lvl4pPr>
      <a:lvl5pPr marL="1828800" indent="-228600" algn="l" rtl="0" eaLnBrk="0" fontAlgn="base" hangingPunct="0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5pPr>
      <a:lvl6pPr marL="22860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6pPr>
      <a:lvl7pPr marL="27432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7pPr>
      <a:lvl8pPr marL="32004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8pPr>
      <a:lvl9pPr marL="3657600" indent="-228600" algn="l" rtl="0" fontAlgn="base">
        <a:spcBef>
          <a:spcPct val="20000"/>
        </a:spcBef>
        <a:spcAft>
          <a:spcPct val="0"/>
        </a:spcAft>
        <a:buClr>
          <a:srgbClr val="FF7D00"/>
        </a:buClr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993775" y="2601896"/>
            <a:ext cx="7772400" cy="1171207"/>
          </a:xfrm>
        </p:spPr>
        <p:txBody>
          <a:bodyPr/>
          <a:lstStyle/>
          <a:p>
            <a:pPr eaLnBrk="1" hangingPunct="1"/>
            <a:r>
              <a:rPr lang="en-US" dirty="0" smtClean="0"/>
              <a:t>Popup core</a:t>
            </a:r>
            <a:br>
              <a:rPr lang="en-US" dirty="0" smtClean="0"/>
            </a:b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596606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Agenda</a:t>
            </a:r>
          </a:p>
        </p:txBody>
      </p:sp>
      <p:sp>
        <p:nvSpPr>
          <p:cNvPr id="40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789777C-73A2-470B-94B8-CD774A7E8D47}" type="slidenum">
              <a:rPr lang="en-US" sz="1400" smtClean="0">
                <a:solidFill>
                  <a:srgbClr val="FFFFFF"/>
                </a:solidFill>
              </a:rPr>
              <a:pPr eaLnBrk="1" hangingPunct="1"/>
              <a:t>2</a:t>
            </a:fld>
            <a:r>
              <a:rPr lang="en-US" sz="1400" smtClean="0">
                <a:solidFill>
                  <a:srgbClr val="FFFFFF"/>
                </a:solidFill>
              </a:rPr>
              <a:t>    Visteon Confidential</a:t>
            </a:r>
          </a:p>
          <a:p>
            <a:pPr eaLnBrk="1" hangingPunct="1"/>
            <a:endParaRPr lang="en-US" sz="1400" smtClean="0">
              <a:solidFill>
                <a:srgbClr val="FFFFFF"/>
              </a:solidFill>
            </a:endParaRPr>
          </a:p>
        </p:txBody>
      </p:sp>
      <p:sp>
        <p:nvSpPr>
          <p:cNvPr id="4100" name="Content Placeholder 2"/>
          <p:cNvSpPr>
            <a:spLocks/>
          </p:cNvSpPr>
          <p:nvPr/>
        </p:nvSpPr>
        <p:spPr bwMode="auto">
          <a:xfrm>
            <a:off x="409575" y="1181100"/>
            <a:ext cx="8328025" cy="492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</a:rPr>
              <a:t>Overview of Popup Core &amp; Types of popup</a:t>
            </a:r>
            <a:endParaRPr lang="en-US" sz="2800" dirty="0">
              <a:solidFill>
                <a:srgbClr val="000000"/>
              </a:solidFill>
            </a:endParaRP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Popup </a:t>
            </a:r>
            <a:r>
              <a:rPr lang="en-US" sz="2800" dirty="0">
                <a:solidFill>
                  <a:srgbClr val="000000"/>
                </a:solidFill>
                <a:latin typeface="Arial" charset="0"/>
              </a:rPr>
              <a:t>core Context with </a:t>
            </a:r>
            <a:r>
              <a:rPr lang="en-US" sz="2800" dirty="0" err="1" smtClean="0">
                <a:solidFill>
                  <a:srgbClr val="000000"/>
                </a:solidFill>
                <a:latin typeface="Arial" charset="0"/>
              </a:rPr>
              <a:t>IceApple</a:t>
            </a:r>
            <a:endParaRPr lang="en-US" sz="2800" dirty="0" smtClean="0">
              <a:solidFill>
                <a:srgbClr val="000000"/>
              </a:solidFill>
              <a:latin typeface="Arial" charset="0"/>
            </a:endParaRP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Integrating popup core</a:t>
            </a:r>
          </a:p>
          <a:p>
            <a:pPr marL="228600" lvl="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Arial" charset="0"/>
              </a:rPr>
              <a:t>Adding popups</a:t>
            </a:r>
            <a:endParaRPr lang="en-US" sz="2800" dirty="0" smtClean="0">
              <a:solidFill>
                <a:srgbClr val="000000"/>
              </a:solidFill>
              <a:latin typeface="Arial" charset="0"/>
            </a:endParaRPr>
          </a:p>
          <a:p>
            <a:pPr marL="228600" indent="-228600" fontAlgn="base">
              <a:spcBef>
                <a:spcPct val="20000"/>
              </a:spcBef>
              <a:spcAft>
                <a:spcPct val="0"/>
              </a:spcAft>
              <a:buClr>
                <a:srgbClr val="FF7D00"/>
              </a:buClr>
              <a:buFontTx/>
              <a:buChar char="•"/>
            </a:pP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31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Overview of Popup Core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Used to display popups from various modules.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Decides which popup need to be displayed among all the active popups based on the configuration done in Popup Configurator Tool.</a:t>
            </a:r>
          </a:p>
          <a:p>
            <a:pPr>
              <a:lnSpc>
                <a:spcPct val="90000"/>
              </a:lnSpc>
            </a:pPr>
            <a:r>
              <a:rPr lang="en-US" dirty="0" smtClean="0"/>
              <a:t>Key Responsibilities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Time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Layer wise Priority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Popup Queue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Button Event Management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Automatic deactivation of popup on expiry of timer/button event/demand from application.</a:t>
            </a:r>
          </a:p>
        </p:txBody>
      </p:sp>
    </p:spTree>
    <p:extLst>
      <p:ext uri="{BB962C8B-B14F-4D97-AF65-F5344CB8AC3E}">
        <p14:creationId xmlns:p14="http://schemas.microsoft.com/office/powerpoint/2010/main" val="73123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Popup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Info Popup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Information popup, no button events will be handled.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Will be closed once timeout happens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Prioritized based on the configuration in tool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971800"/>
            <a:ext cx="4533900" cy="255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812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Popup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Keypad Popup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User can enter the data(Numeric/Alphabetic/Alphanumeric)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Configure the button events in popup configurator tool.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200400"/>
            <a:ext cx="45339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3478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Popup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Acknowledge Popup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Displays as an info popup and waits for user acknowledgement.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Configure the acknowledge events in popup configurator tool.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276600"/>
            <a:ext cx="4495800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287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r>
              <a:rPr lang="en-US" dirty="0" smtClean="0"/>
              <a:t>Types of Popup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166813"/>
            <a:ext cx="8328025" cy="49228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Progress bar Popup 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Shows the percentage of completion to user.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Configure the progress rate in popup configurator tool.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971800"/>
            <a:ext cx="44767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25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7694613" cy="609600"/>
          </a:xfrm>
        </p:spPr>
        <p:txBody>
          <a:bodyPr/>
          <a:lstStyle/>
          <a:p>
            <a:pPr marL="228600" lvl="0" indent="-2286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Popup core Context with </a:t>
            </a:r>
            <a:r>
              <a:rPr lang="en-US" dirty="0" err="1">
                <a:solidFill>
                  <a:srgbClr val="000000"/>
                </a:solidFill>
                <a:latin typeface="Arial" charset="0"/>
              </a:rPr>
              <a:t>IceApple</a:t>
            </a:r>
            <a:endParaRPr lang="en-US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Popup Core Interaction Diagram</a:t>
            </a:r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2133600"/>
            <a:ext cx="791527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1604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8"/>
            <a:ext cx="4162425" cy="4922837"/>
          </a:xfrm>
        </p:spPr>
        <p:txBody>
          <a:bodyPr/>
          <a:lstStyle/>
          <a:p>
            <a:r>
              <a:rPr lang="en-US" dirty="0" smtClean="0"/>
              <a:t>Popups are statically allocated priority from Low to high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9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524000"/>
            <a:ext cx="206692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0113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8"/>
            <a:ext cx="4162425" cy="4922837"/>
          </a:xfrm>
        </p:spPr>
        <p:txBody>
          <a:bodyPr/>
          <a:lstStyle/>
          <a:p>
            <a:r>
              <a:rPr lang="en-US" dirty="0" smtClean="0"/>
              <a:t>Popups can be grouped</a:t>
            </a:r>
          </a:p>
          <a:p>
            <a:r>
              <a:rPr lang="en-US" dirty="0" smtClean="0"/>
              <a:t>Once grouped, the group shares the same priority</a:t>
            </a:r>
          </a:p>
          <a:p>
            <a:r>
              <a:rPr lang="en-US" dirty="0" smtClean="0"/>
              <a:t>The popup added last to the group gets displayed (LIFO)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10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414462"/>
            <a:ext cx="277177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4929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Priority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9"/>
            <a:ext cx="8505825" cy="2366962"/>
          </a:xfrm>
        </p:spPr>
        <p:txBody>
          <a:bodyPr/>
          <a:lstStyle/>
          <a:p>
            <a:r>
              <a:rPr lang="en-US" dirty="0" smtClean="0"/>
              <a:t>Set of Popup / Group can be mapped to a view manager priority</a:t>
            </a:r>
          </a:p>
          <a:p>
            <a:r>
              <a:rPr lang="en-US" dirty="0" smtClean="0"/>
              <a:t>This is called as a popup Layer</a:t>
            </a:r>
          </a:p>
          <a:p>
            <a:r>
              <a:rPr lang="en-US" dirty="0" smtClean="0"/>
              <a:t>Collectively popup core runs a parallel priority arbitration to output a single popup per layer manager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11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636396"/>
            <a:ext cx="7924800" cy="2688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810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Integrating Popup core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Following steps are involved</a:t>
            </a:r>
          </a:p>
          <a:p>
            <a:pPr lvl="1"/>
            <a:r>
              <a:rPr lang="en-US" dirty="0" smtClean="0"/>
              <a:t>Create the app specific configurations</a:t>
            </a:r>
          </a:p>
          <a:p>
            <a:pPr lvl="1"/>
            <a:r>
              <a:rPr lang="en-US" dirty="0" smtClean="0"/>
              <a:t>Add the core and generated files in to build</a:t>
            </a:r>
          </a:p>
          <a:p>
            <a:pPr lvl="1"/>
            <a:r>
              <a:rPr lang="en-US" dirty="0" smtClean="0"/>
              <a:t>Provide necessary support functionality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12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360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the Configurations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\</a:t>
            </a:r>
            <a:r>
              <a:rPr lang="en-US" dirty="0" smtClean="0"/>
              <a:t>ui.core.iceapple.doc\popup.core.02\</a:t>
            </a:r>
            <a:r>
              <a:rPr lang="en-US" dirty="0" err="1" smtClean="0"/>
              <a:t>Popup_Configurator</a:t>
            </a:r>
            <a:r>
              <a:rPr lang="en-US" dirty="0" smtClean="0"/>
              <a:t>\Popup_configurator.exe</a:t>
            </a:r>
          </a:p>
          <a:p>
            <a:r>
              <a:rPr lang="en-US" dirty="0" smtClean="0"/>
              <a:t>Click File-&gt;New to start a new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13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750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9"/>
            <a:ext cx="8201025" cy="3433762"/>
          </a:xfrm>
        </p:spPr>
        <p:txBody>
          <a:bodyPr/>
          <a:lstStyle/>
          <a:p>
            <a:r>
              <a:rPr lang="en-US" dirty="0" smtClean="0"/>
              <a:t>In the general tab, specify the timer interfaces to be used by popup core to start, stop and check a timer</a:t>
            </a:r>
          </a:p>
          <a:p>
            <a:r>
              <a:rPr lang="en-US" dirty="0" smtClean="0"/>
              <a:t>Lets give the following name for the timer interface functions </a:t>
            </a:r>
          </a:p>
          <a:p>
            <a:pPr lvl="1"/>
            <a:r>
              <a:rPr lang="en-US" sz="2000" dirty="0" err="1"/>
              <a:t>hmi_popup_core_support_timer_start</a:t>
            </a:r>
            <a:endParaRPr lang="en-US" sz="2000" dirty="0"/>
          </a:p>
          <a:p>
            <a:pPr lvl="1"/>
            <a:r>
              <a:rPr lang="en-US" sz="2000" dirty="0" err="1"/>
              <a:t>hmi_popup_core_support_timer_stop</a:t>
            </a:r>
            <a:endParaRPr lang="en-US" sz="2000" dirty="0"/>
          </a:p>
          <a:p>
            <a:pPr lvl="1"/>
            <a:r>
              <a:rPr lang="en-US" sz="2000" dirty="0" err="1" smtClean="0"/>
              <a:t>hmi_popup_core_support_timer_check</a:t>
            </a:r>
            <a:endParaRPr lang="en-US" sz="2000" dirty="0" smtClean="0"/>
          </a:p>
          <a:p>
            <a:r>
              <a:rPr lang="en-US" sz="2400" dirty="0"/>
              <a:t>Popup core </a:t>
            </a:r>
            <a:r>
              <a:rPr lang="en-US" sz="2400" dirty="0" smtClean="0"/>
              <a:t>needs </a:t>
            </a:r>
            <a:r>
              <a:rPr lang="en-US" sz="2400" dirty="0"/>
              <a:t>a callback notification when a timer expires </a:t>
            </a:r>
            <a:r>
              <a:rPr lang="en-US" sz="1600" dirty="0"/>
              <a:t>(</a:t>
            </a:r>
            <a:r>
              <a:rPr lang="en-US" sz="1600" dirty="0" err="1"/>
              <a:t>hmi_popup_core_timeout_callback</a:t>
            </a:r>
            <a:r>
              <a:rPr lang="en-US" sz="1600" dirty="0"/>
              <a:t>)</a:t>
            </a:r>
          </a:p>
          <a:p>
            <a:endParaRPr lang="en-US" sz="23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Timer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14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Line Callout 2 4"/>
          <p:cNvSpPr/>
          <p:nvPr/>
        </p:nvSpPr>
        <p:spPr bwMode="auto">
          <a:xfrm>
            <a:off x="6324600" y="3505200"/>
            <a:ext cx="1676400" cy="685800"/>
          </a:xfrm>
          <a:prstGeom prst="borderCallout2">
            <a:avLst>
              <a:gd name="adj1" fmla="val 18750"/>
              <a:gd name="adj2" fmla="val -8333"/>
              <a:gd name="adj3" fmla="val 25695"/>
              <a:gd name="adj4" fmla="val -18940"/>
              <a:gd name="adj5" fmla="val 205556"/>
              <a:gd name="adj6" fmla="val -13144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57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Timer Configurations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Map the timer support functions in general tab of the tool</a:t>
            </a:r>
          </a:p>
          <a:p>
            <a:r>
              <a:rPr lang="en-US" dirty="0" smtClean="0"/>
              <a:t>Map the Timer Check Interface return values for</a:t>
            </a:r>
          </a:p>
          <a:p>
            <a:pPr lvl="1"/>
            <a:r>
              <a:rPr lang="en-US" dirty="0" smtClean="0"/>
              <a:t>TMR_RUNNING</a:t>
            </a:r>
          </a:p>
          <a:p>
            <a:pPr lvl="1"/>
            <a:r>
              <a:rPr lang="en-US" dirty="0" smtClean="0"/>
              <a:t>TMR_CLEARED</a:t>
            </a:r>
          </a:p>
          <a:p>
            <a:pPr lvl="1"/>
            <a:r>
              <a:rPr lang="en-US" dirty="0" smtClean="0"/>
              <a:t>TMR_EXPIRED </a:t>
            </a:r>
          </a:p>
          <a:p>
            <a:endParaRPr lang="en-US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15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2" y="4267200"/>
            <a:ext cx="782002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466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 Configurations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Popup core needs a maximum of two timers per layer</a:t>
            </a:r>
          </a:p>
          <a:p>
            <a:pPr lvl="1"/>
            <a:r>
              <a:rPr lang="en-US" sz="1800" dirty="0"/>
              <a:t>General Timeout timer (GUI_POPUP_&lt;layer&gt;_TMR_ID)</a:t>
            </a:r>
          </a:p>
          <a:p>
            <a:pPr lvl="1"/>
            <a:r>
              <a:rPr lang="en-US" sz="1800" dirty="0"/>
              <a:t>Minimum timeout timer (GUI_POPUP_&lt;layer&gt;_MIN_TMR_ID)</a:t>
            </a:r>
          </a:p>
          <a:p>
            <a:r>
              <a:rPr lang="en-US" sz="2100" dirty="0"/>
              <a:t>Implement a timer support module to realize the timer support </a:t>
            </a:r>
            <a:r>
              <a:rPr lang="en-US" sz="2100" dirty="0" smtClean="0"/>
              <a:t>functionality</a:t>
            </a:r>
          </a:p>
          <a:p>
            <a:r>
              <a:rPr lang="en-US" sz="2100" dirty="0"/>
              <a:t>Refer </a:t>
            </a:r>
            <a:r>
              <a:rPr lang="en-US" sz="2100" dirty="0" err="1" smtClean="0"/>
              <a:t>hmi_timer_support.c</a:t>
            </a:r>
            <a:r>
              <a:rPr lang="en-US" sz="2100" dirty="0" smtClean="0"/>
              <a:t>/.h which realizes this in the reference application</a:t>
            </a:r>
          </a:p>
          <a:p>
            <a:r>
              <a:rPr lang="en-US" sz="2100" dirty="0" smtClean="0"/>
              <a:t>Specify the timer module header file in include paths</a:t>
            </a:r>
            <a:endParaRPr lang="en-US" sz="2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16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181600"/>
            <a:ext cx="78105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2465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popup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&lt;&lt; demo </a:t>
            </a:r>
            <a:r>
              <a:rPr lang="en-US" dirty="0" smtClean="0"/>
              <a:t>now, to be updated later&gt;&gt;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17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335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Graphics Design &amp; VM configurations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After the configurations are made and code generated, a GDT design has to be also made for each of the popup screen</a:t>
            </a:r>
          </a:p>
          <a:p>
            <a:r>
              <a:rPr lang="en-US" sz="2400" dirty="0" smtClean="0"/>
              <a:t>In the GDT, for each popup screen the focus, event and presentation handler has to be mapped to a handler inside popup core.</a:t>
            </a:r>
          </a:p>
          <a:p>
            <a:r>
              <a:rPr lang="en-US" sz="2400" dirty="0" smtClean="0"/>
              <a:t>The name of the callback depends on which popup layer the popup screen belongs to</a:t>
            </a:r>
          </a:p>
          <a:p>
            <a:pPr lvl="1"/>
            <a:r>
              <a:rPr lang="en-US" sz="2100" dirty="0" err="1" smtClean="0"/>
              <a:t>hmi_popup_core</a:t>
            </a:r>
            <a:r>
              <a:rPr lang="en-US" sz="2100" dirty="0" smtClean="0"/>
              <a:t>_&lt;layer&gt;_</a:t>
            </a:r>
            <a:r>
              <a:rPr lang="en-US" sz="2100" dirty="0" err="1" smtClean="0"/>
              <a:t>rx_button_handler</a:t>
            </a:r>
            <a:endParaRPr lang="en-US" sz="2100" dirty="0" smtClean="0"/>
          </a:p>
          <a:p>
            <a:pPr lvl="1"/>
            <a:r>
              <a:rPr lang="en-US" sz="2100" dirty="0" err="1" smtClean="0"/>
              <a:t>hmi_popup_core</a:t>
            </a:r>
            <a:r>
              <a:rPr lang="en-US" sz="2100" dirty="0" smtClean="0"/>
              <a:t>_&lt;layer&gt;_</a:t>
            </a:r>
            <a:r>
              <a:rPr lang="en-US" sz="2100" dirty="0" err="1" smtClean="0"/>
              <a:t>disp_foucus_handler</a:t>
            </a:r>
            <a:endParaRPr lang="en-US" sz="2100" dirty="0" smtClean="0"/>
          </a:p>
          <a:p>
            <a:pPr lvl="1"/>
            <a:r>
              <a:rPr lang="en-US" sz="2100" dirty="0" err="1"/>
              <a:t>hmi_popup_core</a:t>
            </a:r>
            <a:r>
              <a:rPr lang="en-US" sz="2100" dirty="0"/>
              <a:t>_&lt;layer&gt;_ </a:t>
            </a:r>
            <a:r>
              <a:rPr lang="en-US" sz="2100" dirty="0" err="1" smtClean="0"/>
              <a:t>disp_presentation_handler</a:t>
            </a:r>
            <a:endParaRPr lang="en-US" sz="2100" dirty="0" smtClean="0"/>
          </a:p>
          <a:p>
            <a:r>
              <a:rPr lang="en-US" sz="2400" dirty="0" smtClean="0"/>
              <a:t>For Popup Layer0, &lt;layer&gt; will be layer0 </a:t>
            </a:r>
          </a:p>
          <a:p>
            <a:pPr lvl="1"/>
            <a:endParaRPr 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18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565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5" y="1138238"/>
            <a:ext cx="8328025" cy="5186362"/>
          </a:xfrm>
        </p:spPr>
        <p:txBody>
          <a:bodyPr/>
          <a:lstStyle/>
          <a:p>
            <a:r>
              <a:rPr lang="en-US" b="1" dirty="0" smtClean="0"/>
              <a:t>Files for build</a:t>
            </a:r>
          </a:p>
          <a:p>
            <a:pPr lvl="1"/>
            <a:r>
              <a:rPr lang="en-US" b="1" dirty="0" err="1" smtClean="0"/>
              <a:t>hmi_popup_core_if.c</a:t>
            </a:r>
            <a:r>
              <a:rPr lang="en-US" b="1" dirty="0" smtClean="0"/>
              <a:t> (</a:t>
            </a:r>
            <a:r>
              <a:rPr lang="en-US" b="1" dirty="0" err="1" smtClean="0"/>
              <a:t>autogenerated</a:t>
            </a:r>
            <a:r>
              <a:rPr lang="en-US" b="1" dirty="0" smtClean="0"/>
              <a:t>)</a:t>
            </a:r>
          </a:p>
          <a:p>
            <a:pPr lvl="1"/>
            <a:r>
              <a:rPr lang="en-US" b="1" dirty="0" err="1" smtClean="0"/>
              <a:t>hmi_popup_core.c</a:t>
            </a:r>
            <a:r>
              <a:rPr lang="en-US" b="1" dirty="0" smtClean="0"/>
              <a:t> (core file)</a:t>
            </a:r>
          </a:p>
          <a:p>
            <a:r>
              <a:rPr lang="en-US" b="1" dirty="0" err="1" smtClean="0"/>
              <a:t>Init</a:t>
            </a:r>
            <a:r>
              <a:rPr lang="en-US" b="1" dirty="0" smtClean="0"/>
              <a:t> and </a:t>
            </a:r>
            <a:r>
              <a:rPr lang="en-US" b="1" dirty="0" err="1" smtClean="0"/>
              <a:t>sched</a:t>
            </a:r>
            <a:r>
              <a:rPr lang="en-US" b="1" dirty="0" smtClean="0"/>
              <a:t> needs</a:t>
            </a:r>
          </a:p>
          <a:p>
            <a:pPr lvl="1"/>
            <a:r>
              <a:rPr lang="en-US" b="1" dirty="0" err="1"/>
              <a:t>hmi_popup_core_initialize</a:t>
            </a:r>
            <a:r>
              <a:rPr lang="en-US" b="1" dirty="0"/>
              <a:t>() to be called </a:t>
            </a:r>
            <a:r>
              <a:rPr lang="en-US" b="1" dirty="0" smtClean="0"/>
              <a:t>during startup</a:t>
            </a:r>
          </a:p>
          <a:p>
            <a:pPr lvl="1"/>
            <a:r>
              <a:rPr lang="en-US" b="1" dirty="0" err="1" smtClean="0"/>
              <a:t>hmi_popup_core_task</a:t>
            </a:r>
            <a:r>
              <a:rPr lang="en-US" b="1" dirty="0" smtClean="0"/>
              <a:t>() to be called periodically</a:t>
            </a:r>
          </a:p>
          <a:p>
            <a:r>
              <a:rPr lang="en-US" b="1" dirty="0" smtClean="0"/>
              <a:t>To activate/deactivate popup, use following </a:t>
            </a:r>
            <a:r>
              <a:rPr lang="en-US" b="1" dirty="0" err="1" smtClean="0"/>
              <a:t>api</a:t>
            </a:r>
            <a:endParaRPr lang="en-US" b="1" dirty="0" smtClean="0"/>
          </a:p>
          <a:p>
            <a:pPr lvl="1"/>
            <a:r>
              <a:rPr lang="en-US" b="1" dirty="0" err="1" smtClean="0"/>
              <a:t>hmi_popup_core_activate_popup</a:t>
            </a:r>
            <a:endParaRPr lang="en-US" b="1" dirty="0" smtClean="0"/>
          </a:p>
          <a:p>
            <a:pPr lvl="1"/>
            <a:r>
              <a:rPr lang="en-US" b="1" dirty="0" err="1" smtClean="0"/>
              <a:t>hmi_popup_core_deactivate_popup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19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806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 \ui.core.iceapple.doc\popup.core.02\design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E0E2E46-79E7-44E6-A0A7-D7BD907EC269}" type="slidenum">
              <a:rPr lang="en-US" smtClean="0">
                <a:solidFill>
                  <a:srgbClr val="FFFFFF"/>
                </a:solidFill>
              </a:rPr>
              <a:pPr>
                <a:defRPr/>
              </a:pPr>
              <a:t>20</a:t>
            </a:fld>
            <a:r>
              <a:rPr lang="en-US" smtClean="0">
                <a:solidFill>
                  <a:srgbClr val="FFFFFF"/>
                </a:solidFill>
              </a:rPr>
              <a:t>    Visteon Confidential</a:t>
            </a:r>
          </a:p>
          <a:p>
            <a:pPr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132904"/>
      </p:ext>
    </p:extLst>
  </p:cSld>
  <p:clrMapOvr>
    <a:masterClrMapping/>
  </p:clrMapOvr>
</p:sld>
</file>

<file path=ppt/theme/theme1.xml><?xml version="1.0" encoding="utf-8"?>
<a:theme xmlns:a="http://schemas.openxmlformats.org/drawingml/2006/main" name="VisteonCleanTemplate_3-12-1">
  <a:themeElements>
    <a:clrScheme name="VisteonCleanTemplate_3-12-1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EAEAEA"/>
      </a:accent1>
      <a:accent2>
        <a:srgbClr val="C0C0C0"/>
      </a:accent2>
      <a:accent3>
        <a:srgbClr val="FFFFFF"/>
      </a:accent3>
      <a:accent4>
        <a:srgbClr val="000000"/>
      </a:accent4>
      <a:accent5>
        <a:srgbClr val="F3F3F3"/>
      </a:accent5>
      <a:accent6>
        <a:srgbClr val="AEAEAE"/>
      </a:accent6>
      <a:hlink>
        <a:srgbClr val="4D4D4D"/>
      </a:hlink>
      <a:folHlink>
        <a:srgbClr val="F3901D"/>
      </a:folHlink>
    </a:clrScheme>
    <a:fontScheme name="VisteonCleanTemplate_3-12-1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09999"/>
            </a:gs>
            <a:gs pos="100000">
              <a:srgbClr val="FFFFFF"/>
            </a:gs>
          </a:gsLst>
          <a:lin ang="5400000" scaled="1"/>
        </a:gra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009999"/>
            </a:gs>
            <a:gs pos="100000">
              <a:srgbClr val="FFFFFF"/>
            </a:gs>
          </a:gsLst>
          <a:lin ang="5400000" scaled="1"/>
        </a:gra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  <a:cs typeface="Arial" pitchFamily="34" charset="0"/>
          </a:defRPr>
        </a:defPPr>
      </a:lstStyle>
    </a:lnDef>
  </a:objectDefaults>
  <a:extraClrSchemeLst>
    <a:extraClrScheme>
      <a:clrScheme name="VisteonCleanTemplate_3-12-1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EAEAEA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AEAEAE"/>
        </a:accent6>
        <a:hlink>
          <a:srgbClr val="4D4D4D"/>
        </a:hlink>
        <a:folHlink>
          <a:srgbClr val="F390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VC Template">
  <a:themeElements>
    <a:clrScheme name="VC Template 1">
      <a:dk1>
        <a:srgbClr val="000000"/>
      </a:dk1>
      <a:lt1>
        <a:srgbClr val="FFFFFF"/>
      </a:lt1>
      <a:dk2>
        <a:srgbClr val="0069AA"/>
      </a:dk2>
      <a:lt2>
        <a:srgbClr val="333333"/>
      </a:lt2>
      <a:accent1>
        <a:srgbClr val="F3901D"/>
      </a:accent1>
      <a:accent2>
        <a:srgbClr val="78A22F"/>
      </a:accent2>
      <a:accent3>
        <a:srgbClr val="FFFFFF"/>
      </a:accent3>
      <a:accent4>
        <a:srgbClr val="000000"/>
      </a:accent4>
      <a:accent5>
        <a:srgbClr val="F8C6AB"/>
      </a:accent5>
      <a:accent6>
        <a:srgbClr val="6C922A"/>
      </a:accent6>
      <a:hlink>
        <a:srgbClr val="6C217F"/>
      </a:hlink>
      <a:folHlink>
        <a:srgbClr val="FFC425"/>
      </a:folHlink>
    </a:clrScheme>
    <a:fontScheme name="VC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C Template 1">
        <a:dk1>
          <a:srgbClr val="000000"/>
        </a:dk1>
        <a:lt1>
          <a:srgbClr val="FFFFFF"/>
        </a:lt1>
        <a:dk2>
          <a:srgbClr val="0069AA"/>
        </a:dk2>
        <a:lt2>
          <a:srgbClr val="333333"/>
        </a:lt2>
        <a:accent1>
          <a:srgbClr val="F3901D"/>
        </a:accent1>
        <a:accent2>
          <a:srgbClr val="78A22F"/>
        </a:accent2>
        <a:accent3>
          <a:srgbClr val="FFFFFF"/>
        </a:accent3>
        <a:accent4>
          <a:srgbClr val="000000"/>
        </a:accent4>
        <a:accent5>
          <a:srgbClr val="F8C6AB"/>
        </a:accent5>
        <a:accent6>
          <a:srgbClr val="6C922A"/>
        </a:accent6>
        <a:hlink>
          <a:srgbClr val="6C217F"/>
        </a:hlink>
        <a:folHlink>
          <a:srgbClr val="FFC4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VC Template">
  <a:themeElements>
    <a:clrScheme name="VC Template 1">
      <a:dk1>
        <a:srgbClr val="000000"/>
      </a:dk1>
      <a:lt1>
        <a:srgbClr val="FFFFFF"/>
      </a:lt1>
      <a:dk2>
        <a:srgbClr val="0069AA"/>
      </a:dk2>
      <a:lt2>
        <a:srgbClr val="333333"/>
      </a:lt2>
      <a:accent1>
        <a:srgbClr val="F3901D"/>
      </a:accent1>
      <a:accent2>
        <a:srgbClr val="78A22F"/>
      </a:accent2>
      <a:accent3>
        <a:srgbClr val="FFFFFF"/>
      </a:accent3>
      <a:accent4>
        <a:srgbClr val="000000"/>
      </a:accent4>
      <a:accent5>
        <a:srgbClr val="F8C6AB"/>
      </a:accent5>
      <a:accent6>
        <a:srgbClr val="6C922A"/>
      </a:accent6>
      <a:hlink>
        <a:srgbClr val="6C217F"/>
      </a:hlink>
      <a:folHlink>
        <a:srgbClr val="FFC425"/>
      </a:folHlink>
    </a:clrScheme>
    <a:fontScheme name="VC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VC Template 1">
        <a:dk1>
          <a:srgbClr val="000000"/>
        </a:dk1>
        <a:lt1>
          <a:srgbClr val="FFFFFF"/>
        </a:lt1>
        <a:dk2>
          <a:srgbClr val="0069AA"/>
        </a:dk2>
        <a:lt2>
          <a:srgbClr val="333333"/>
        </a:lt2>
        <a:accent1>
          <a:srgbClr val="F3901D"/>
        </a:accent1>
        <a:accent2>
          <a:srgbClr val="78A22F"/>
        </a:accent2>
        <a:accent3>
          <a:srgbClr val="FFFFFF"/>
        </a:accent3>
        <a:accent4>
          <a:srgbClr val="000000"/>
        </a:accent4>
        <a:accent5>
          <a:srgbClr val="F8C6AB"/>
        </a:accent5>
        <a:accent6>
          <a:srgbClr val="6C922A"/>
        </a:accent6>
        <a:hlink>
          <a:srgbClr val="6C217F"/>
        </a:hlink>
        <a:folHlink>
          <a:srgbClr val="FFC4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630</Words>
  <Application>Microsoft Office PowerPoint</Application>
  <PresentationFormat>On-screen Show (4:3)</PresentationFormat>
  <Paragraphs>108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VisteonCleanTemplate_3-12-1</vt:lpstr>
      <vt:lpstr>VC Template</vt:lpstr>
      <vt:lpstr>1_VC Template</vt:lpstr>
      <vt:lpstr>Popup core </vt:lpstr>
      <vt:lpstr>Agenda</vt:lpstr>
      <vt:lpstr>Overview of Popup Core </vt:lpstr>
      <vt:lpstr>Types of Popup</vt:lpstr>
      <vt:lpstr>Types of Popup</vt:lpstr>
      <vt:lpstr>Types of Popup</vt:lpstr>
      <vt:lpstr>Types of Popup</vt:lpstr>
      <vt:lpstr>Popup core Context with IceApple</vt:lpstr>
      <vt:lpstr>Priority Management</vt:lpstr>
      <vt:lpstr>Priority Management</vt:lpstr>
      <vt:lpstr>Priority Management</vt:lpstr>
      <vt:lpstr>Integrating Popup core</vt:lpstr>
      <vt:lpstr>Creating the Configurations</vt:lpstr>
      <vt:lpstr>Timer configuration</vt:lpstr>
      <vt:lpstr>Timer Configurations</vt:lpstr>
      <vt:lpstr>Timer Configurations</vt:lpstr>
      <vt:lpstr>Adding popup</vt:lpstr>
      <vt:lpstr>Graphics Design &amp; VM configurations</vt:lpstr>
      <vt:lpstr>Final steps</vt:lpstr>
      <vt:lpstr>Further reading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Devi, Aruna (A.)</dc:creator>
  <cp:lastModifiedBy>Edayilamuriyil, Manoj (M.S.)</cp:lastModifiedBy>
  <cp:revision>47</cp:revision>
  <dcterms:created xsi:type="dcterms:W3CDTF">2015-03-24T11:00:58Z</dcterms:created>
  <dcterms:modified xsi:type="dcterms:W3CDTF">2015-03-25T07:22:19Z</dcterms:modified>
</cp:coreProperties>
</file>