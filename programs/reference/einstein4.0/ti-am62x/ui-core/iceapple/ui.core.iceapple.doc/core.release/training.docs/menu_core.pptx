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7" r:id="rId3"/>
    <p:sldMasterId id="2147483710" r:id="rId4"/>
  </p:sldMasterIdLst>
  <p:notesMasterIdLst>
    <p:notesMasterId r:id="rId29"/>
  </p:notesMasterIdLst>
  <p:sldIdLst>
    <p:sldId id="258" r:id="rId5"/>
    <p:sldId id="260" r:id="rId6"/>
    <p:sldId id="261" r:id="rId7"/>
    <p:sldId id="266" r:id="rId8"/>
    <p:sldId id="288" r:id="rId9"/>
    <p:sldId id="289" r:id="rId10"/>
    <p:sldId id="290" r:id="rId11"/>
    <p:sldId id="291" r:id="rId12"/>
    <p:sldId id="270" r:id="rId13"/>
    <p:sldId id="292" r:id="rId14"/>
    <p:sldId id="293" r:id="rId15"/>
    <p:sldId id="282" r:id="rId16"/>
    <p:sldId id="283" r:id="rId17"/>
    <p:sldId id="284" r:id="rId18"/>
    <p:sldId id="285" r:id="rId19"/>
    <p:sldId id="286" r:id="rId20"/>
    <p:sldId id="287" r:id="rId21"/>
    <p:sldId id="262" r:id="rId22"/>
    <p:sldId id="294" r:id="rId23"/>
    <p:sldId id="295" r:id="rId24"/>
    <p:sldId id="281" r:id="rId25"/>
    <p:sldId id="274" r:id="rId26"/>
    <p:sldId id="273" r:id="rId27"/>
    <p:sldId id="27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92" autoAdjust="0"/>
  </p:normalViewPr>
  <p:slideViewPr>
    <p:cSldViewPr>
      <p:cViewPr varScale="1">
        <p:scale>
          <a:sx n="98" d="100"/>
          <a:sy n="98" d="100"/>
        </p:scale>
        <p:origin x="-3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13BCF-C087-4A75-B290-AD0894AE2D91}" type="datetimeFigureOut">
              <a:rPr lang="en-US" smtClean="0"/>
              <a:t>3/26/2015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68E8C-DEBC-4D83-B104-6E49B8D5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5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9pPr>
          </a:lstStyle>
          <a:p>
            <a:pPr eaLnBrk="1" hangingPunct="1"/>
            <a:fld id="{DCFB02D5-7FC1-447B-99D9-69BE312C6BEB}" type="slidenum">
              <a:rPr lang="en-US" sz="1300" b="0" smtClean="0">
                <a:solidFill>
                  <a:prstClr val="black"/>
                </a:solidFill>
                <a:latin typeface="Arial" charset="0"/>
              </a:rPr>
              <a:pPr eaLnBrk="1" hangingPunct="1"/>
              <a:t>1</a:t>
            </a:fld>
            <a:endParaRPr lang="en-US" sz="1300" b="0" dirty="0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" r="4454"/>
          <a:stretch>
            <a:fillRect/>
          </a:stretch>
        </p:blipFill>
        <p:spPr bwMode="auto">
          <a:xfrm>
            <a:off x="0" y="3878263"/>
            <a:ext cx="91440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7013" y="6615113"/>
            <a:ext cx="4030662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5F5F5F"/>
                </a:solidFill>
              </a:rPr>
              <a:t>Strictly Private and Confidential</a:t>
            </a:r>
          </a:p>
        </p:txBody>
      </p:sp>
      <p:pic>
        <p:nvPicPr>
          <p:cNvPr id="6" name="Picture 4" descr="VisteonLOGOc-2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582613"/>
            <a:ext cx="273685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429000"/>
            <a:ext cx="7775575" cy="5445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spcBef>
                <a:spcPct val="0"/>
              </a:spcBef>
              <a:buFont typeface="Wingdings 2" pitchFamily="18" charset="2"/>
              <a:buNone/>
              <a:defRPr sz="1500">
                <a:solidFill>
                  <a:srgbClr val="777777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993775" y="2755900"/>
            <a:ext cx="7772400" cy="6699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algn="r">
              <a:spcBef>
                <a:spcPct val="75000"/>
              </a:spcBef>
              <a:buClr>
                <a:schemeClr val="tx2"/>
              </a:buClr>
              <a:buFont typeface="Wingdings 2" pitchFamily="18" charset="2"/>
              <a:buNone/>
              <a:defRPr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99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4AB5F369-4436-47A7-922E-B9DBBB27244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12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0BEF8C1-5E97-42C6-8232-3F367F405861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02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2263" y="950913"/>
            <a:ext cx="4173537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50913"/>
            <a:ext cx="4173538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1235F41F-2EC5-4085-8C1D-9653BD7832F6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3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B1E6CE02-84C4-44BA-9923-1757F2EF917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0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80C3D74F-F3AC-4123-987A-32BCD4E8486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2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41DEB33-009E-4052-BA2B-8048D4E4021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E1B9BF7-A26C-477D-BAAE-01D453DAC478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93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9CBBF72-46DD-4746-8A1E-62DFD6F8F69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A2C23C7-2D1B-4574-A4B1-F91AF58E2843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7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97663" y="122238"/>
            <a:ext cx="2124075" cy="61023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2263" y="122238"/>
            <a:ext cx="6223000" cy="61023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1F1BC0E-0F1A-45D0-AEC8-00CF17524FA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95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2611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04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670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2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651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12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805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04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3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2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5513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06843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155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56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092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297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3171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667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81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13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337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883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7"/>
            <a:ext cx="9144000" cy="686287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65100" y="3086100"/>
            <a:ext cx="1981200" cy="0"/>
          </a:xfrm>
          <a:prstGeom prst="line">
            <a:avLst/>
          </a:prstGeom>
          <a:ln w="19050">
            <a:solidFill>
              <a:srgbClr val="5E5E5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460603" y="6419850"/>
            <a:ext cx="13805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Yanfeng Visteon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44146" y="4429125"/>
            <a:ext cx="10134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Electronics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52400" y="4106049"/>
            <a:ext cx="1981200" cy="0"/>
          </a:xfrm>
          <a:prstGeom prst="line">
            <a:avLst/>
          </a:prstGeom>
          <a:ln>
            <a:solidFill>
              <a:srgbClr val="5E5E5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750747" y="5084802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Interiors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52400" y="4752975"/>
            <a:ext cx="1981200" cy="0"/>
          </a:xfrm>
          <a:prstGeom prst="line">
            <a:avLst/>
          </a:prstGeom>
          <a:ln>
            <a:solidFill>
              <a:srgbClr val="5E5E5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52400" y="5438775"/>
            <a:ext cx="1981200" cy="0"/>
          </a:xfrm>
          <a:prstGeom prst="line">
            <a:avLst/>
          </a:prstGeom>
          <a:ln>
            <a:solidFill>
              <a:srgbClr val="5E5E5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152400" y="2555359"/>
            <a:ext cx="19812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1800"/>
              </a:spcAft>
            </a:pPr>
            <a:r>
              <a:rPr lang="en-US" sz="1500" b="1" dirty="0">
                <a:solidFill>
                  <a:srgbClr val="5E5E5E"/>
                </a:solidFill>
              </a:rPr>
              <a:t>Our Family</a:t>
            </a:r>
            <a:br>
              <a:rPr lang="en-US" sz="1500" b="1" dirty="0">
                <a:solidFill>
                  <a:srgbClr val="5E5E5E"/>
                </a:solidFill>
              </a:rPr>
            </a:br>
            <a:r>
              <a:rPr lang="en-US" sz="1500" b="1" dirty="0">
                <a:solidFill>
                  <a:srgbClr val="5E5E5E"/>
                </a:solidFill>
              </a:rPr>
              <a:t>of Businesses 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27013" y="6659563"/>
            <a:ext cx="4030662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5F5F5F"/>
                </a:solidFill>
              </a:rPr>
              <a:t>Strictly Private and Confidential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91820" y="5443206"/>
            <a:ext cx="6180557" cy="5445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spcBef>
                <a:spcPct val="0"/>
              </a:spcBef>
              <a:buFont typeface="Wingdings 2" pitchFamily="18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  <p:sp>
        <p:nvSpPr>
          <p:cNvPr id="12698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2594343" y="4865356"/>
            <a:ext cx="6178033" cy="6699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algn="r">
              <a:spcBef>
                <a:spcPct val="75000"/>
              </a:spcBef>
              <a:buClr>
                <a:schemeClr val="tx2"/>
              </a:buClr>
              <a:buFont typeface="Wingdings 2" pitchFamily="18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8533" y="3363929"/>
            <a:ext cx="2151266" cy="598471"/>
            <a:chOff x="6231588" y="147917"/>
            <a:chExt cx="2937812" cy="817283"/>
          </a:xfrm>
        </p:grpSpPr>
        <p:pic>
          <p:nvPicPr>
            <p:cNvPr id="19" name="Picture 18"/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6" t="6031" r="6370" b="9556"/>
            <a:stretch/>
          </p:blipFill>
          <p:spPr bwMode="auto">
            <a:xfrm>
              <a:off x="7076607" y="147917"/>
              <a:ext cx="1200150" cy="50720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그림 9" descr="영문상하.png"/>
            <p:cNvPicPr>
              <a:picLocks noChangeAspect="1"/>
            </p:cNvPicPr>
            <p:nvPr userDrawn="1"/>
          </p:nvPicPr>
          <p:blipFill rotWithShape="1">
            <a:blip r:embed="rId4" cstate="print"/>
            <a:srcRect l="23750" t="54695" r="22930" b="40413"/>
            <a:stretch/>
          </p:blipFill>
          <p:spPr>
            <a:xfrm>
              <a:off x="6231588" y="754637"/>
              <a:ext cx="2937812" cy="210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05087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3B9B2790-871E-4B14-89F3-CE456C00FFBE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0914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DEE0E78D-3DCE-4F10-83E1-87C551BB7EE9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8093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2263" y="950913"/>
            <a:ext cx="4173537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50913"/>
            <a:ext cx="4173538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43A01E25-1105-493B-A5BD-82FB46DB4C8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264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707E63C3-57BE-4F94-8976-0A4E1A7BC7E1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148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4EA85ED2-0521-4F1B-AA41-B4688A03FA10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319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52FA82AE-F571-4DB8-B1F2-0BD6296CA4F4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5828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E0841218-2E1F-44D5-8C76-4EE25374F95A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8705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0124844D-570C-4BA6-A7C5-C85BB8CB7661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545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4562D27-3A79-42F0-87F9-91357ED8DD1F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507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7663" y="122238"/>
            <a:ext cx="2124075" cy="6102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2263" y="122238"/>
            <a:ext cx="6223000" cy="61023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88EB624-FD54-4325-A47F-93DE359EA17B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8918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267" y="122240"/>
            <a:ext cx="7500937" cy="4270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2265" y="950913"/>
            <a:ext cx="8499475" cy="52736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8E0A11A8-BC0A-4CB5-A484-550F91BB87F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07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Visteon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38100"/>
            <a:ext cx="1319212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2263" y="950913"/>
            <a:ext cx="8499475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2263" y="122238"/>
            <a:ext cx="75009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-14288" y="642938"/>
            <a:ext cx="7637463" cy="0"/>
          </a:xfrm>
          <a:prstGeom prst="line">
            <a:avLst/>
          </a:prstGeom>
          <a:noFill/>
          <a:ln w="28575">
            <a:solidFill>
              <a:srgbClr val="FF7D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400" y="6581775"/>
            <a:ext cx="10969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2"/>
                </a:solidFill>
                <a:latin typeface="+mn-lt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751C4243-9DDE-4A1A-8E85-5A8A7FCA294A}" type="slidenum">
              <a:rPr lang="en-US">
                <a:solidFill>
                  <a:srgbClr val="96969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222250" y="6478588"/>
            <a:ext cx="8707438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7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9pPr>
    </p:titleStyle>
    <p:bodyStyle>
      <a:lvl1pPr marL="228600" indent="-228600" algn="l" rtl="0" eaLnBrk="0" fontAlgn="base" hangingPunct="0">
        <a:spcBef>
          <a:spcPct val="7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ea typeface="+mn-ea"/>
          <a:cs typeface="+mn-cs"/>
        </a:defRPr>
      </a:lvl1pPr>
      <a:lvl2pPr marL="455613" indent="-225425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2pPr>
      <a:lvl3pPr marL="6842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Char char="§"/>
        <a:defRPr>
          <a:solidFill>
            <a:srgbClr val="333333"/>
          </a:solidFill>
          <a:latin typeface="+mn-lt"/>
          <a:cs typeface="+mn-cs"/>
        </a:defRPr>
      </a:lvl3pPr>
      <a:lvl4pPr marL="9128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cs typeface="+mn-cs"/>
        </a:defRPr>
      </a:lvl4pPr>
      <a:lvl5pPr marL="11414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5pPr>
      <a:lvl6pPr marL="15986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6pPr>
      <a:lvl7pPr marL="20558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7pPr>
      <a:lvl8pPr marL="25130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8pPr>
      <a:lvl9pPr marL="29702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6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2263" y="950913"/>
            <a:ext cx="8499475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2263" y="122238"/>
            <a:ext cx="75009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-14288" y="642938"/>
            <a:ext cx="7637463" cy="0"/>
          </a:xfrm>
          <a:prstGeom prst="line">
            <a:avLst/>
          </a:prstGeom>
          <a:noFill/>
          <a:ln w="28575">
            <a:solidFill>
              <a:srgbClr val="FF7D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400" y="6581775"/>
            <a:ext cx="10969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F8DE1C28-F174-437F-8100-0535022441FE}" type="slidenum">
              <a:rPr lang="en-US">
                <a:solidFill>
                  <a:srgbClr val="96969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222250" y="6478588"/>
            <a:ext cx="8707438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8" name="Group 403"/>
          <p:cNvGrpSpPr>
            <a:grpSpLocks/>
          </p:cNvGrpSpPr>
          <p:nvPr userDrawn="1"/>
        </p:nvGrpSpPr>
        <p:grpSpPr bwMode="auto">
          <a:xfrm>
            <a:off x="7620000" y="120650"/>
            <a:ext cx="1379538" cy="596900"/>
            <a:chOff x="2972856" y="2398105"/>
            <a:chExt cx="1379336" cy="596247"/>
          </a:xfrm>
        </p:grpSpPr>
        <p:pic>
          <p:nvPicPr>
            <p:cNvPr id="9" name="Picture 404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2856" y="2398105"/>
              <a:ext cx="1379336" cy="278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405"/>
            <p:cNvSpPr>
              <a:spLocks noChangeArrowheads="1"/>
            </p:cNvSpPr>
            <p:nvPr/>
          </p:nvSpPr>
          <p:spPr bwMode="auto">
            <a:xfrm>
              <a:off x="3087687" y="2686575"/>
              <a:ext cx="114967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>
                  <a:solidFill>
                    <a:srgbClr val="000000"/>
                  </a:solidFill>
                </a:rPr>
                <a:t>Electronics</a:t>
              </a:r>
              <a:endParaRPr lang="en-US" sz="14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35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charset="0"/>
          <a:cs typeface="Arial" charset="0"/>
        </a:defRPr>
      </a:lvl9pPr>
    </p:titleStyle>
    <p:bodyStyle>
      <a:lvl1pPr marL="228600" indent="-228600" algn="l" rtl="0" eaLnBrk="0" fontAlgn="base" hangingPunct="0">
        <a:spcBef>
          <a:spcPct val="7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ea typeface="+mn-ea"/>
          <a:cs typeface="+mn-cs"/>
        </a:defRPr>
      </a:lvl1pPr>
      <a:lvl2pPr marL="455613" indent="-225425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2pPr>
      <a:lvl3pPr marL="6842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Char char="§"/>
        <a:defRPr>
          <a:solidFill>
            <a:srgbClr val="333333"/>
          </a:solidFill>
          <a:latin typeface="+mn-lt"/>
          <a:cs typeface="+mn-cs"/>
        </a:defRPr>
      </a:lvl3pPr>
      <a:lvl4pPr marL="9128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cs typeface="+mn-cs"/>
        </a:defRPr>
      </a:lvl4pPr>
      <a:lvl5pPr marL="11414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5pPr>
      <a:lvl6pPr marL="15986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6pPr>
      <a:lvl7pPr marL="20558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7pPr>
      <a:lvl8pPr marL="25130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8pPr>
      <a:lvl9pPr marL="29702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3775" y="2601896"/>
            <a:ext cx="7772400" cy="1171207"/>
          </a:xfrm>
        </p:spPr>
        <p:txBody>
          <a:bodyPr/>
          <a:lstStyle/>
          <a:p>
            <a:pPr eaLnBrk="1" hangingPunct="1"/>
            <a:r>
              <a:rPr lang="en-US" dirty="0" err="1"/>
              <a:t>ui.iceapple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Menu </a:t>
            </a:r>
            <a:r>
              <a:rPr lang="en-US" dirty="0" smtClean="0"/>
              <a:t>core</a:t>
            </a:r>
            <a:r>
              <a:rPr lang="en-US" dirty="0"/>
              <a:t/>
            </a:r>
            <a:br>
              <a:rPr lang="en-US" dirty="0"/>
            </a:b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59660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Agenda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89777C-73A2-470B-94B8-CD774A7E8D47}" type="slidenum">
              <a:rPr lang="en-US" sz="1400" smtClean="0">
                <a:solidFill>
                  <a:srgbClr val="FFFFFF"/>
                </a:solidFill>
              </a:rPr>
              <a:pPr eaLnBrk="1" hangingPunct="1"/>
              <a:t>2</a:t>
            </a:fld>
            <a:r>
              <a:rPr lang="en-US" sz="1400" smtClean="0">
                <a:solidFill>
                  <a:srgbClr val="FFFFFF"/>
                </a:solidFill>
              </a:rPr>
              <a:t>    Visteon Confidential</a:t>
            </a:r>
          </a:p>
          <a:p>
            <a:pPr eaLnBrk="1" hangingPunct="1"/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4100" name="Content Placeholder 2"/>
          <p:cNvSpPr>
            <a:spLocks/>
          </p:cNvSpPr>
          <p:nvPr/>
        </p:nvSpPr>
        <p:spPr bwMode="auto">
          <a:xfrm>
            <a:off x="409575" y="1103279"/>
            <a:ext cx="8328025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Overview of Menu Core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Types </a:t>
            </a:r>
            <a:r>
              <a:rPr lang="en-US" sz="2800" dirty="0">
                <a:solidFill>
                  <a:srgbClr val="000000"/>
                </a:solidFill>
              </a:rPr>
              <a:t>of Menu and Menu </a:t>
            </a:r>
            <a:r>
              <a:rPr lang="en-US" sz="2800" dirty="0" smtClean="0">
                <a:solidFill>
                  <a:srgbClr val="000000"/>
                </a:solidFill>
              </a:rPr>
              <a:t>Items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Menu Core </a:t>
            </a:r>
            <a:r>
              <a:rPr lang="en-US" sz="2800" dirty="0" smtClean="0">
                <a:solidFill>
                  <a:srgbClr val="000000"/>
                </a:solidFill>
              </a:rPr>
              <a:t>Features</a:t>
            </a: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Menu Navigation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charset="0"/>
              </a:rPr>
              <a:t>Menu Core Context with </a:t>
            </a:r>
            <a:r>
              <a:rPr lang="en-US" sz="2800" dirty="0" err="1">
                <a:solidFill>
                  <a:srgbClr val="000000"/>
                </a:solidFill>
                <a:latin typeface="Arial" charset="0"/>
              </a:rPr>
              <a:t>Iceapple</a:t>
            </a:r>
            <a:endParaRPr lang="en-US" sz="2800" dirty="0">
              <a:solidFill>
                <a:srgbClr val="000000"/>
              </a:solidFill>
              <a:latin typeface="Arial" charset="0"/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General </a:t>
            </a:r>
            <a:r>
              <a:rPr lang="en-US" sz="2800" dirty="0" smtClean="0">
                <a:solidFill>
                  <a:srgbClr val="000000"/>
                </a:solidFill>
              </a:rPr>
              <a:t>Workflow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Menu Design in GDT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Configuration in Menu Configurator Tool</a:t>
            </a: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charset="0"/>
              </a:rPr>
              <a:t>Integrating menu 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core</a:t>
            </a: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charset="0"/>
              </a:rPr>
              <a:t>Demo of menu in simulation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1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Overview of Menu Core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Considered as the backbone for the display structuring and building.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Menu </a:t>
            </a:r>
            <a:r>
              <a:rPr lang="en-US" dirty="0"/>
              <a:t>core possesses the general Menu functionalities acted upon by the predefined </a:t>
            </a:r>
            <a:r>
              <a:rPr lang="en-US" dirty="0" smtClean="0"/>
              <a:t>configuration.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Key Responsibilities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Open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Close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Button Action(</a:t>
            </a:r>
            <a:r>
              <a:rPr lang="en-US" dirty="0" err="1" smtClean="0"/>
              <a:t>Up,Down,Right,Left,Ok</a:t>
            </a:r>
            <a:r>
              <a:rPr lang="en-US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Fast Scroll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Rebuild/Reload</a:t>
            </a:r>
          </a:p>
        </p:txBody>
      </p:sp>
    </p:spTree>
    <p:extLst>
      <p:ext uri="{BB962C8B-B14F-4D97-AF65-F5344CB8AC3E}">
        <p14:creationId xmlns:p14="http://schemas.microsoft.com/office/powerpoint/2010/main" val="73123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Menu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Static Menu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Menu contents are predefined and available while loading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E.g. </a:t>
            </a:r>
            <a:r>
              <a:rPr lang="en-US" dirty="0" smtClean="0"/>
              <a:t>Radio Band </a:t>
            </a:r>
            <a:r>
              <a:rPr lang="en-US" dirty="0"/>
              <a:t>list Menu, Settings Main Menu.</a:t>
            </a:r>
            <a:endParaRPr lang="en-US" sz="3600" dirty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Dynamic Menu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Menu contents are not known while loading and waits for the other nodes </a:t>
            </a:r>
            <a:r>
              <a:rPr lang="en-US" dirty="0" smtClean="0"/>
              <a:t>response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E.g. CD </a:t>
            </a:r>
            <a:r>
              <a:rPr lang="en-US" dirty="0"/>
              <a:t>Folder list Menu, IPOD songs Menu.</a:t>
            </a:r>
            <a:endParaRPr lang="en-US" sz="3600" dirty="0"/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8812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Menu Item Entry Type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Text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Submenu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Toggle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Executable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825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Menu Item Configuration	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Item Configuration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marL="342900" lvl="1" indent="0">
              <a:lnSpc>
                <a:spcPct val="90000"/>
              </a:lnSpc>
              <a:buNone/>
            </a:pPr>
            <a:r>
              <a:rPr lang="en-US" dirty="0" smtClean="0"/>
              <a:t>Each Menu item can be configured dynamically as Active, Inactive or Greyed out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Active    - </a:t>
            </a:r>
            <a:r>
              <a:rPr lang="en-US" dirty="0" smtClean="0"/>
              <a:t>Item displayed inside the menu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Inactive  - </a:t>
            </a:r>
            <a:r>
              <a:rPr lang="en-US" dirty="0" smtClean="0"/>
              <a:t>Item removed from the menu 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err="1" smtClean="0"/>
              <a:t>Greyout</a:t>
            </a:r>
            <a:r>
              <a:rPr lang="en-US" dirty="0" smtClean="0"/>
              <a:t>	  - </a:t>
            </a:r>
            <a:r>
              <a:rPr lang="en-US" dirty="0" smtClean="0"/>
              <a:t>Item displayed but it will be greyed out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180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Menu Rebuild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Menu Rebuild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Rebuild checks menu item configuration and update</a:t>
            </a:r>
          </a:p>
          <a:p>
            <a:pPr marL="342900" lvl="1" indent="0">
              <a:lnSpc>
                <a:spcPct val="90000"/>
              </a:lnSpc>
              <a:buNone/>
            </a:pPr>
            <a:r>
              <a:rPr lang="en-US" dirty="0" smtClean="0"/>
              <a:t>    </a:t>
            </a:r>
            <a:r>
              <a:rPr lang="en-US" dirty="0" smtClean="0"/>
              <a:t>Items </a:t>
            </a:r>
            <a:r>
              <a:rPr lang="en-US" dirty="0" smtClean="0"/>
              <a:t>inside the menu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Rebuild request the view manager </a:t>
            </a:r>
            <a:r>
              <a:rPr lang="en-US" dirty="0" smtClean="0"/>
              <a:t>to update </a:t>
            </a:r>
            <a:r>
              <a:rPr lang="en-US" dirty="0" smtClean="0"/>
              <a:t>the menu in display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Application calls this interface whenever there is a change in vehicle/item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97108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Menu Reload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Menu Reload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Reload checks whether parent menu is active, if not </a:t>
            </a:r>
            <a:r>
              <a:rPr lang="en-US" dirty="0" smtClean="0"/>
              <a:t>active, menu core close </a:t>
            </a:r>
            <a:r>
              <a:rPr lang="en-US" dirty="0" smtClean="0"/>
              <a:t>the child menu and goes to parent menu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If parent menu active, then rebuild the child menu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Application calls this interface whenever there is a change in vehicle/item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50783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43000"/>
            <a:ext cx="8277225" cy="4918075"/>
          </a:xfrm>
        </p:spPr>
        <p:txBody>
          <a:bodyPr/>
          <a:lstStyle/>
          <a:p>
            <a:r>
              <a:rPr lang="en-US" dirty="0" smtClean="0"/>
              <a:t>Menu Core supports Multi Instance  i.e., multiple menu’s can be active at the same time.</a:t>
            </a:r>
          </a:p>
          <a:p>
            <a:endParaRPr lang="en-US" dirty="0" smtClean="0"/>
          </a:p>
          <a:p>
            <a:r>
              <a:rPr lang="en-US" dirty="0" smtClean="0"/>
              <a:t>Instance Id for each menu is configured based GDT Screen priority.</a:t>
            </a:r>
          </a:p>
          <a:p>
            <a:endParaRPr lang="en-US" dirty="0"/>
          </a:p>
          <a:p>
            <a:r>
              <a:rPr lang="en-US" dirty="0" smtClean="0"/>
              <a:t>Menu instance with highest screen priority receives the button commands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11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Other Menu Features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Wrap Around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Fast window Movement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Content Menu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Back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Exit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Other Menu Features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Limited window Focus Movement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Go to parent on zero item entries in menu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Content Menu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Menu button to Menu action Mapping Table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Menu close on timeout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95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</a:t>
            </a:r>
            <a:r>
              <a:rPr lang="en-US" dirty="0" smtClean="0"/>
              <a:t>Core - Typical Example</a:t>
            </a:r>
            <a:endParaRPr lang="en-US" dirty="0"/>
          </a:p>
        </p:txBody>
      </p:sp>
      <p:sp>
        <p:nvSpPr>
          <p:cNvPr id="204806" name="AutoShape 6"/>
          <p:cNvSpPr>
            <a:spLocks noChangeArrowheads="1"/>
          </p:cNvSpPr>
          <p:nvPr/>
        </p:nvSpPr>
        <p:spPr bwMode="auto">
          <a:xfrm>
            <a:off x="1752600" y="2012950"/>
            <a:ext cx="152400" cy="381000"/>
          </a:xfrm>
          <a:prstGeom prst="upArrow">
            <a:avLst>
              <a:gd name="adj1" fmla="val 50000"/>
              <a:gd name="adj2" fmla="val 625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0480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152400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09" name="AutoShape 9"/>
          <p:cNvSpPr>
            <a:spLocks noChangeArrowheads="1"/>
          </p:cNvSpPr>
          <p:nvPr/>
        </p:nvSpPr>
        <p:spPr bwMode="auto">
          <a:xfrm>
            <a:off x="2209800" y="216535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810" name="AutoShape 10"/>
          <p:cNvSpPr>
            <a:spLocks noChangeArrowheads="1"/>
          </p:cNvSpPr>
          <p:nvPr/>
        </p:nvSpPr>
        <p:spPr bwMode="auto">
          <a:xfrm>
            <a:off x="1143000" y="5060950"/>
            <a:ext cx="1371600" cy="533400"/>
          </a:xfrm>
          <a:prstGeom prst="wedgeRoundRectCallout">
            <a:avLst>
              <a:gd name="adj1" fmla="val 30556"/>
              <a:gd name="adj2" fmla="val -325000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Allows Menu Tree Creation</a:t>
            </a:r>
          </a:p>
        </p:txBody>
      </p:sp>
      <p:sp>
        <p:nvSpPr>
          <p:cNvPr id="204811" name="AutoShape 11"/>
          <p:cNvSpPr>
            <a:spLocks noChangeArrowheads="1"/>
          </p:cNvSpPr>
          <p:nvPr/>
        </p:nvSpPr>
        <p:spPr bwMode="auto">
          <a:xfrm>
            <a:off x="3124200" y="4527550"/>
            <a:ext cx="1371600" cy="990600"/>
          </a:xfrm>
          <a:prstGeom prst="wedgeRoundRectCallout">
            <a:avLst>
              <a:gd name="adj1" fmla="val -20833"/>
              <a:gd name="adj2" fmla="val -12788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User can browse the menu tree structure</a:t>
            </a:r>
          </a:p>
        </p:txBody>
      </p:sp>
      <p:sp>
        <p:nvSpPr>
          <p:cNvPr id="204812" name="AutoShape 12"/>
          <p:cNvSpPr>
            <a:spLocks noChangeArrowheads="1"/>
          </p:cNvSpPr>
          <p:nvPr/>
        </p:nvSpPr>
        <p:spPr bwMode="auto">
          <a:xfrm>
            <a:off x="4800600" y="4298950"/>
            <a:ext cx="1371600" cy="1219200"/>
          </a:xfrm>
          <a:prstGeom prst="wedgeRoundRectCallout">
            <a:avLst>
              <a:gd name="adj1" fmla="val -36806"/>
              <a:gd name="adj2" fmla="val -76565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Entries in list can be dynamically enabled/ disabled/ grayed out</a:t>
            </a:r>
          </a:p>
        </p:txBody>
      </p:sp>
      <p:sp>
        <p:nvSpPr>
          <p:cNvPr id="204813" name="AutoShape 13"/>
          <p:cNvSpPr>
            <a:spLocks noChangeArrowheads="1"/>
          </p:cNvSpPr>
          <p:nvPr/>
        </p:nvSpPr>
        <p:spPr bwMode="auto">
          <a:xfrm>
            <a:off x="6248400" y="4679950"/>
            <a:ext cx="1371600" cy="838200"/>
          </a:xfrm>
          <a:prstGeom prst="wedgeRoundRectCallout">
            <a:avLst>
              <a:gd name="adj1" fmla="val -85417"/>
              <a:gd name="adj2" fmla="val -15795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Can Manage Remote List such as CD </a:t>
            </a:r>
            <a:r>
              <a:rPr lang="en-US" sz="1200" dirty="0" err="1"/>
              <a:t>tracklist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7893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</a:t>
            </a:r>
            <a:r>
              <a:rPr lang="en-US" dirty="0"/>
              <a:t>Core - Typical Example</a:t>
            </a:r>
            <a:endParaRPr lang="en-US" dirty="0"/>
          </a:p>
        </p:txBody>
      </p:sp>
      <p:sp>
        <p:nvSpPr>
          <p:cNvPr id="224259" name="AutoShape 3"/>
          <p:cNvSpPr>
            <a:spLocks noChangeArrowheads="1"/>
          </p:cNvSpPr>
          <p:nvPr/>
        </p:nvSpPr>
        <p:spPr bwMode="auto">
          <a:xfrm>
            <a:off x="2209800" y="2012950"/>
            <a:ext cx="152400" cy="381000"/>
          </a:xfrm>
          <a:prstGeom prst="upArrow">
            <a:avLst>
              <a:gd name="adj1" fmla="val 50000"/>
              <a:gd name="adj2" fmla="val 625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152400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4261" name="AutoShape 5"/>
          <p:cNvSpPr>
            <a:spLocks noChangeArrowheads="1"/>
          </p:cNvSpPr>
          <p:nvPr/>
        </p:nvSpPr>
        <p:spPr bwMode="auto">
          <a:xfrm>
            <a:off x="2667000" y="216535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4262" name="AutoShape 6"/>
          <p:cNvSpPr>
            <a:spLocks noChangeArrowheads="1"/>
          </p:cNvSpPr>
          <p:nvPr/>
        </p:nvSpPr>
        <p:spPr bwMode="auto">
          <a:xfrm>
            <a:off x="838200" y="4572000"/>
            <a:ext cx="1371600" cy="685800"/>
          </a:xfrm>
          <a:prstGeom prst="wedgeRoundRectCallout">
            <a:avLst>
              <a:gd name="adj1" fmla="val 86111"/>
              <a:gd name="adj2" fmla="val -18611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Can trigger transition Animations</a:t>
            </a:r>
          </a:p>
        </p:txBody>
      </p:sp>
      <p:sp>
        <p:nvSpPr>
          <p:cNvPr id="224263" name="AutoShape 7"/>
          <p:cNvSpPr>
            <a:spLocks noChangeArrowheads="1"/>
          </p:cNvSpPr>
          <p:nvPr/>
        </p:nvSpPr>
        <p:spPr bwMode="auto">
          <a:xfrm>
            <a:off x="2667000" y="4603750"/>
            <a:ext cx="1371600" cy="685800"/>
          </a:xfrm>
          <a:prstGeom prst="wedgeRoundRectCallout">
            <a:avLst>
              <a:gd name="adj1" fmla="val 45833"/>
              <a:gd name="adj2" fmla="val -17361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Supports Multiple Instances</a:t>
            </a:r>
          </a:p>
        </p:txBody>
      </p:sp>
      <p:sp>
        <p:nvSpPr>
          <p:cNvPr id="224264" name="AutoShape 8"/>
          <p:cNvSpPr>
            <a:spLocks noChangeArrowheads="1"/>
          </p:cNvSpPr>
          <p:nvPr/>
        </p:nvSpPr>
        <p:spPr bwMode="auto">
          <a:xfrm>
            <a:off x="4343400" y="4603750"/>
            <a:ext cx="1371600" cy="762000"/>
          </a:xfrm>
          <a:prstGeom prst="wedgeRoundRectCallout">
            <a:avLst>
              <a:gd name="adj1" fmla="val 29861"/>
              <a:gd name="adj2" fmla="val -132500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Supports Vertical and Horizontal List</a:t>
            </a:r>
          </a:p>
        </p:txBody>
      </p:sp>
      <p:sp>
        <p:nvSpPr>
          <p:cNvPr id="224266" name="AutoShape 10"/>
          <p:cNvSpPr>
            <a:spLocks noChangeArrowheads="1"/>
          </p:cNvSpPr>
          <p:nvPr/>
        </p:nvSpPr>
        <p:spPr bwMode="auto">
          <a:xfrm>
            <a:off x="6400800" y="3841750"/>
            <a:ext cx="1371600" cy="1447800"/>
          </a:xfrm>
          <a:prstGeom prst="wedgeRoundRectCallout">
            <a:avLst>
              <a:gd name="adj1" fmla="val -56944"/>
              <a:gd name="adj2" fmla="val -98028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dirty="0"/>
              <a:t>Supports History – Auto activation of last history menu when active menu closes by timeout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44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Menu Core - Navigation</a:t>
            </a:r>
          </a:p>
        </p:txBody>
      </p:sp>
      <p:sp>
        <p:nvSpPr>
          <p:cNvPr id="208899" name="AutoShape 3"/>
          <p:cNvSpPr>
            <a:spLocks noChangeArrowheads="1"/>
          </p:cNvSpPr>
          <p:nvPr/>
        </p:nvSpPr>
        <p:spPr bwMode="auto">
          <a:xfrm>
            <a:off x="1752600" y="2743200"/>
            <a:ext cx="152400" cy="381000"/>
          </a:xfrm>
          <a:prstGeom prst="upArrow">
            <a:avLst>
              <a:gd name="adj1" fmla="val 50000"/>
              <a:gd name="adj2" fmla="val 625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089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225425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8901" name="AutoShape 5"/>
          <p:cNvSpPr>
            <a:spLocks noChangeArrowheads="1"/>
          </p:cNvSpPr>
          <p:nvPr/>
        </p:nvSpPr>
        <p:spPr bwMode="auto">
          <a:xfrm>
            <a:off x="2209800" y="251460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0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Menu Core - Navigation</a:t>
            </a:r>
          </a:p>
        </p:txBody>
      </p:sp>
      <p:pic>
        <p:nvPicPr>
          <p:cNvPr id="209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225425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925" name="AutoShape 5"/>
          <p:cNvSpPr>
            <a:spLocks noChangeArrowheads="1"/>
          </p:cNvSpPr>
          <p:nvPr/>
        </p:nvSpPr>
        <p:spPr bwMode="auto">
          <a:xfrm>
            <a:off x="2971800" y="251460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9926" name="AutoShape 6"/>
          <p:cNvSpPr>
            <a:spLocks noChangeArrowheads="1"/>
          </p:cNvSpPr>
          <p:nvPr/>
        </p:nvSpPr>
        <p:spPr bwMode="auto">
          <a:xfrm>
            <a:off x="3352800" y="2133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1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Menu Core - Navigation</a:t>
            </a:r>
          </a:p>
        </p:txBody>
      </p:sp>
      <p:pic>
        <p:nvPicPr>
          <p:cNvPr id="210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225425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0949" name="AutoShape 5"/>
          <p:cNvSpPr>
            <a:spLocks noChangeArrowheads="1"/>
          </p:cNvSpPr>
          <p:nvPr/>
        </p:nvSpPr>
        <p:spPr bwMode="auto">
          <a:xfrm>
            <a:off x="4267200" y="251460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0951" name="AutoShape 7"/>
          <p:cNvSpPr>
            <a:spLocks noChangeArrowheads="1"/>
          </p:cNvSpPr>
          <p:nvPr/>
        </p:nvSpPr>
        <p:spPr bwMode="auto">
          <a:xfrm>
            <a:off x="5410200" y="24384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6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Menu Core - Navigation</a:t>
            </a:r>
          </a:p>
        </p:txBody>
      </p:sp>
      <p:sp>
        <p:nvSpPr>
          <p:cNvPr id="212995" name="AutoShape 3"/>
          <p:cNvSpPr>
            <a:spLocks noChangeArrowheads="1"/>
          </p:cNvSpPr>
          <p:nvPr/>
        </p:nvSpPr>
        <p:spPr bwMode="auto">
          <a:xfrm>
            <a:off x="1752600" y="2743200"/>
            <a:ext cx="152400" cy="381000"/>
          </a:xfrm>
          <a:prstGeom prst="upArrow">
            <a:avLst>
              <a:gd name="adj1" fmla="val 50000"/>
              <a:gd name="adj2" fmla="val 625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129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2254250"/>
            <a:ext cx="4824413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2997" name="AutoShape 5"/>
          <p:cNvSpPr>
            <a:spLocks noChangeArrowheads="1"/>
          </p:cNvSpPr>
          <p:nvPr/>
        </p:nvSpPr>
        <p:spPr bwMode="auto">
          <a:xfrm>
            <a:off x="4267200" y="2895600"/>
            <a:ext cx="990600" cy="152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2998" name="AutoShape 6"/>
          <p:cNvSpPr>
            <a:spLocks noChangeArrowheads="1"/>
          </p:cNvSpPr>
          <p:nvPr/>
        </p:nvSpPr>
        <p:spPr bwMode="auto">
          <a:xfrm>
            <a:off x="5486400" y="2514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4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pPr marL="228600" lvl="0" indent="-228600">
              <a:spcBef>
                <a:spcPct val="20000"/>
              </a:spcBef>
            </a:pPr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Menu Core </a:t>
            </a:r>
            <a:r>
              <a:rPr lang="en-US" dirty="0">
                <a:solidFill>
                  <a:srgbClr val="000000"/>
                </a:solidFill>
                <a:latin typeface="Arial" charset="0"/>
              </a:rPr>
              <a:t>Context with </a:t>
            </a:r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Iceapple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Menu Core Interaction Diagram</a:t>
            </a:r>
          </a:p>
          <a:p>
            <a:endParaRPr lang="en-US" dirty="0"/>
          </a:p>
        </p:txBody>
      </p:sp>
      <p:pic>
        <p:nvPicPr>
          <p:cNvPr id="1028" name="Picture 4" descr="C:\Anitha\VISTEON\From Aruna\L_BEDC.tm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1857375"/>
            <a:ext cx="8123237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60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lnSpc>
                <a:spcPct val="80000"/>
              </a:lnSpc>
              <a:spcBef>
                <a:spcPct val="20000"/>
              </a:spcBef>
            </a:pPr>
            <a:r>
              <a:rPr lang="en-US" sz="3600" b="1" dirty="0">
                <a:latin typeface="Arial" charset="0"/>
              </a:rPr>
              <a:t>General Workflow</a:t>
            </a:r>
            <a:endParaRPr lang="en-US" sz="3600" b="1" dirty="0"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tool is used to capture the requirement</a:t>
            </a:r>
          </a:p>
          <a:p>
            <a:r>
              <a:rPr lang="en-US" dirty="0" smtClean="0"/>
              <a:t>Configuration data for the core component is generated</a:t>
            </a:r>
          </a:p>
          <a:p>
            <a:r>
              <a:rPr lang="en-US" dirty="0" smtClean="0"/>
              <a:t>Hand code is written for event handling and 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969696"/>
                </a:solidFill>
              </a:rPr>
              <a:t>Page </a:t>
            </a:r>
            <a:fld id="{3B9B2790-871E-4B14-89F3-CE456C00FFBE}" type="slidenum">
              <a:rPr lang="en-US" smtClean="0">
                <a:solidFill>
                  <a:srgbClr val="969696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969696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1050" y="2524125"/>
            <a:ext cx="2990850" cy="390525"/>
          </a:xfrm>
          <a:prstGeom prst="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Customer Requirement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14375" y="3715843"/>
            <a:ext cx="2990850" cy="2269136"/>
          </a:xfrm>
          <a:prstGeom prst="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</a:rPr>
              <a:t>Configuration tool</a:t>
            </a:r>
          </a:p>
        </p:txBody>
      </p:sp>
      <p:sp>
        <p:nvSpPr>
          <p:cNvPr id="7" name="Down Arrow 6"/>
          <p:cNvSpPr/>
          <p:nvPr/>
        </p:nvSpPr>
        <p:spPr bwMode="auto">
          <a:xfrm>
            <a:off x="2028825" y="3038475"/>
            <a:ext cx="361950" cy="323069"/>
          </a:xfrm>
          <a:prstGeom prst="down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" name="Snip Diagonal Corner Rectangle 7"/>
          <p:cNvSpPr/>
          <p:nvPr/>
        </p:nvSpPr>
        <p:spPr bwMode="auto">
          <a:xfrm>
            <a:off x="5048250" y="3514725"/>
            <a:ext cx="1962150" cy="975922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Configuration Data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4276725" y="3762375"/>
            <a:ext cx="476250" cy="457200"/>
          </a:xfrm>
          <a:prstGeom prst="right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24325" y="305752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Auto code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Snip Diagonal Corner Rectangle 10"/>
          <p:cNvSpPr/>
          <p:nvPr/>
        </p:nvSpPr>
        <p:spPr bwMode="auto">
          <a:xfrm>
            <a:off x="5048250" y="4850411"/>
            <a:ext cx="2619374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</a:rPr>
              <a:t>Event Handler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Snip Diagonal Corner Rectangle 11"/>
          <p:cNvSpPr/>
          <p:nvPr/>
        </p:nvSpPr>
        <p:spPr bwMode="auto">
          <a:xfrm>
            <a:off x="5048249" y="5936261"/>
            <a:ext cx="2619375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Presentation Handler</a:t>
            </a:r>
          </a:p>
        </p:txBody>
      </p:sp>
      <p:sp>
        <p:nvSpPr>
          <p:cNvPr id="13" name="Snip Diagonal Corner Rectangle 12"/>
          <p:cNvSpPr/>
          <p:nvPr/>
        </p:nvSpPr>
        <p:spPr bwMode="auto">
          <a:xfrm>
            <a:off x="5048250" y="5393336"/>
            <a:ext cx="2619374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Focus Handler</a:t>
            </a:r>
          </a:p>
        </p:txBody>
      </p:sp>
      <p:sp>
        <p:nvSpPr>
          <p:cNvPr id="14" name="Right Arrow 13"/>
          <p:cNvSpPr/>
          <p:nvPr/>
        </p:nvSpPr>
        <p:spPr bwMode="auto">
          <a:xfrm>
            <a:off x="4276725" y="5311983"/>
            <a:ext cx="476250" cy="457200"/>
          </a:xfrm>
          <a:prstGeom prst="right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24325" y="449064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Manual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73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263" y="122238"/>
            <a:ext cx="8440737" cy="427037"/>
          </a:xfrm>
        </p:spPr>
        <p:txBody>
          <a:bodyPr/>
          <a:lstStyle/>
          <a:p>
            <a:pPr marL="228600" indent="-228600">
              <a:lnSpc>
                <a:spcPct val="80000"/>
              </a:lnSpc>
              <a:spcBef>
                <a:spcPct val="20000"/>
              </a:spcBef>
            </a:pPr>
            <a:r>
              <a:rPr lang="en-US" sz="3600" b="1" dirty="0">
                <a:latin typeface="Arial" charset="0"/>
              </a:rPr>
              <a:t>General </a:t>
            </a:r>
            <a:r>
              <a:rPr lang="en-US" sz="3600" b="1" dirty="0">
                <a:latin typeface="Arial" charset="0"/>
              </a:rPr>
              <a:t>Workflow of </a:t>
            </a:r>
            <a:r>
              <a:rPr lang="en-US" sz="3600" b="1" dirty="0" smtClean="0">
                <a:latin typeface="Arial" charset="0"/>
              </a:rPr>
              <a:t>Menu</a:t>
            </a:r>
            <a:endParaRPr lang="en-US" sz="3600" b="1" dirty="0"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969696"/>
                </a:solidFill>
              </a:rPr>
              <a:t>Page </a:t>
            </a:r>
            <a:fld id="{3B9B2790-871E-4B14-89F3-CE456C00FFBE}" type="slidenum">
              <a:rPr lang="en-US" smtClean="0">
                <a:solidFill>
                  <a:srgbClr val="969696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969696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071564"/>
            <a:ext cx="8582025" cy="10561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Down Arrow 4"/>
          <p:cNvSpPr/>
          <p:nvPr/>
        </p:nvSpPr>
        <p:spPr bwMode="auto">
          <a:xfrm>
            <a:off x="2466975" y="2190750"/>
            <a:ext cx="361950" cy="323069"/>
          </a:xfrm>
          <a:prstGeom prst="down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" name="Snip Diagonal Corner Rectangle 5"/>
          <p:cNvSpPr/>
          <p:nvPr/>
        </p:nvSpPr>
        <p:spPr bwMode="auto">
          <a:xfrm>
            <a:off x="5934075" y="2667000"/>
            <a:ext cx="1962150" cy="975922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</a:rPr>
              <a:t>Menu Configuration Data</a:t>
            </a:r>
          </a:p>
        </p:txBody>
      </p:sp>
      <p:sp>
        <p:nvSpPr>
          <p:cNvPr id="7" name="Right Arrow 6"/>
          <p:cNvSpPr/>
          <p:nvPr/>
        </p:nvSpPr>
        <p:spPr bwMode="auto">
          <a:xfrm>
            <a:off x="5162550" y="2914650"/>
            <a:ext cx="476250" cy="457200"/>
          </a:xfrm>
          <a:prstGeom prst="right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925" y="733425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Customer Requirements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10150" y="22098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Auto code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Snip Diagonal Corner Rectangle 11"/>
          <p:cNvSpPr/>
          <p:nvPr/>
        </p:nvSpPr>
        <p:spPr bwMode="auto">
          <a:xfrm>
            <a:off x="5934075" y="4002686"/>
            <a:ext cx="2619374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</a:rPr>
              <a:t>Event/Focus Handler</a:t>
            </a:r>
          </a:p>
        </p:txBody>
      </p:sp>
      <p:sp>
        <p:nvSpPr>
          <p:cNvPr id="13" name="Snip Diagonal Corner Rectangle 12"/>
          <p:cNvSpPr/>
          <p:nvPr/>
        </p:nvSpPr>
        <p:spPr bwMode="auto">
          <a:xfrm>
            <a:off x="5934074" y="5088536"/>
            <a:ext cx="2619375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</a:rPr>
              <a:t>Presentation Handler</a:t>
            </a:r>
          </a:p>
        </p:txBody>
      </p:sp>
      <p:sp>
        <p:nvSpPr>
          <p:cNvPr id="14" name="Snip Diagonal Corner Rectangle 13"/>
          <p:cNvSpPr/>
          <p:nvPr/>
        </p:nvSpPr>
        <p:spPr bwMode="auto">
          <a:xfrm>
            <a:off x="5934075" y="4545611"/>
            <a:ext cx="2619374" cy="487961"/>
          </a:xfrm>
          <a:prstGeom prst="snip2DiagRect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</a:rPr>
              <a:t>Config</a:t>
            </a:r>
            <a:r>
              <a:rPr lang="en-US" dirty="0" smtClean="0">
                <a:solidFill>
                  <a:srgbClr val="000000"/>
                </a:solidFill>
              </a:rPr>
              <a:t>. Check Handler</a:t>
            </a:r>
          </a:p>
        </p:txBody>
      </p:sp>
      <p:sp>
        <p:nvSpPr>
          <p:cNvPr id="15" name="Right Arrow 14"/>
          <p:cNvSpPr/>
          <p:nvPr/>
        </p:nvSpPr>
        <p:spPr bwMode="auto">
          <a:xfrm>
            <a:off x="5162550" y="4464258"/>
            <a:ext cx="476250" cy="457200"/>
          </a:xfrm>
          <a:prstGeom prst="rightArrow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0150" y="364292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Manual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3" y="723335"/>
            <a:ext cx="3571875" cy="15722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4" y="2579132"/>
            <a:ext cx="4714875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789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Menu </a:t>
            </a:r>
            <a:r>
              <a:rPr lang="en-US" sz="3200" dirty="0" smtClean="0"/>
              <a:t>Design in GDT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GDT </a:t>
            </a:r>
            <a:r>
              <a:rPr lang="en-US" sz="2400" dirty="0" smtClean="0"/>
              <a:t>design has to be </a:t>
            </a:r>
            <a:r>
              <a:rPr lang="en-US" sz="2400" dirty="0" smtClean="0"/>
              <a:t>made </a:t>
            </a:r>
            <a:r>
              <a:rPr lang="en-US" sz="2400" dirty="0" smtClean="0"/>
              <a:t>for each of the menu screen</a:t>
            </a:r>
          </a:p>
          <a:p>
            <a:r>
              <a:rPr lang="en-US" sz="2400" dirty="0" smtClean="0"/>
              <a:t>In the GDT, for each menu screen the focus, event and presentation handler has to be </a:t>
            </a:r>
            <a:r>
              <a:rPr lang="en-US" sz="2400" dirty="0" smtClean="0"/>
              <a:t>configured as follows</a:t>
            </a:r>
          </a:p>
          <a:p>
            <a:pPr lvl="1"/>
            <a:r>
              <a:rPr lang="en-US" sz="2400" dirty="0" err="1" smtClean="0"/>
              <a:t>hmi_menu_rx_button_handler</a:t>
            </a:r>
            <a:endParaRPr lang="en-US" sz="2400" dirty="0" smtClean="0"/>
          </a:p>
          <a:p>
            <a:pPr lvl="1"/>
            <a:r>
              <a:rPr lang="en-US" sz="2400" dirty="0" err="1"/>
              <a:t>hmi_menu_set_focus_handler</a:t>
            </a:r>
            <a:endParaRPr lang="en-US" sz="2100" dirty="0" smtClean="0"/>
          </a:p>
          <a:p>
            <a:pPr lvl="1"/>
            <a:r>
              <a:rPr lang="en-US" sz="2400" dirty="0" err="1"/>
              <a:t>hmi_menu_presentation_handler</a:t>
            </a:r>
            <a:endParaRPr lang="en-US" sz="2100" dirty="0" smtClean="0"/>
          </a:p>
          <a:p>
            <a:pPr lvl="1"/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21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6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3038"/>
            <a:ext cx="8839200" cy="609600"/>
          </a:xfrm>
        </p:spPr>
        <p:txBody>
          <a:bodyPr/>
          <a:lstStyle/>
          <a:p>
            <a:pPr marL="228600" lvl="0" indent="-2286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Configuration in </a:t>
            </a:r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Menu Configurator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\</a:t>
            </a:r>
            <a:r>
              <a:rPr lang="en-US" dirty="0" smtClean="0"/>
              <a:t>ui.core.iceapple.doc\menu.core.01\</a:t>
            </a:r>
            <a:r>
              <a:rPr lang="en-US" dirty="0" err="1" smtClean="0"/>
              <a:t>menu_configurator_tool</a:t>
            </a:r>
            <a:r>
              <a:rPr lang="en-US" dirty="0" smtClean="0"/>
              <a:t>\MenuConfigurator.exe</a:t>
            </a:r>
            <a:endParaRPr lang="en-US" dirty="0" smtClean="0"/>
          </a:p>
          <a:p>
            <a:r>
              <a:rPr lang="en-US" dirty="0" smtClean="0"/>
              <a:t>Click File-&gt;New to start a new </a:t>
            </a:r>
            <a:r>
              <a:rPr lang="en-US" dirty="0" smtClean="0"/>
              <a:t>configuration</a:t>
            </a:r>
          </a:p>
          <a:p>
            <a:r>
              <a:rPr lang="en-US" dirty="0" smtClean="0"/>
              <a:t>Specify the GDT xml file as input for priority validation</a:t>
            </a:r>
          </a:p>
          <a:p>
            <a:r>
              <a:rPr lang="en-US" dirty="0" smtClean="0"/>
              <a:t>Configure the menu as per the requirement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22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75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Menu 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Following steps are involved</a:t>
            </a:r>
          </a:p>
          <a:p>
            <a:pPr lvl="1"/>
            <a:r>
              <a:rPr lang="en-US" dirty="0" smtClean="0"/>
              <a:t>Create the app specific configurations</a:t>
            </a:r>
          </a:p>
          <a:p>
            <a:pPr lvl="1"/>
            <a:r>
              <a:rPr lang="en-US" dirty="0" smtClean="0"/>
              <a:t>Add the core and generated files </a:t>
            </a:r>
            <a:r>
              <a:rPr lang="en-US" dirty="0" smtClean="0"/>
              <a:t>into </a:t>
            </a:r>
            <a:r>
              <a:rPr lang="en-US" dirty="0" smtClean="0"/>
              <a:t>build</a:t>
            </a:r>
          </a:p>
          <a:p>
            <a:pPr lvl="1"/>
            <a:r>
              <a:rPr lang="en-US" dirty="0" smtClean="0"/>
              <a:t>Provide necessary support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23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36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8328025" cy="5186362"/>
          </a:xfrm>
        </p:spPr>
        <p:txBody>
          <a:bodyPr/>
          <a:lstStyle/>
          <a:p>
            <a:r>
              <a:rPr lang="en-US" b="1" dirty="0" smtClean="0"/>
              <a:t>Files for build</a:t>
            </a:r>
          </a:p>
          <a:p>
            <a:pPr lvl="1"/>
            <a:r>
              <a:rPr lang="en-US" b="1" dirty="0"/>
              <a:t>hmi_menu_def_1 </a:t>
            </a:r>
            <a:r>
              <a:rPr lang="en-US" b="1" dirty="0" smtClean="0"/>
              <a:t>(</a:t>
            </a:r>
            <a:r>
              <a:rPr lang="en-US" b="1" dirty="0" err="1" smtClean="0"/>
              <a:t>autogenerated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hmi_menu_config_1</a:t>
            </a:r>
            <a:r>
              <a:rPr lang="en-US" b="1" dirty="0"/>
              <a:t>(</a:t>
            </a:r>
            <a:r>
              <a:rPr lang="en-US" b="1" dirty="0" err="1"/>
              <a:t>autogenerated</a:t>
            </a:r>
            <a:r>
              <a:rPr lang="en-US" b="1" dirty="0"/>
              <a:t>)</a:t>
            </a:r>
          </a:p>
          <a:p>
            <a:pPr lvl="1"/>
            <a:r>
              <a:rPr lang="en-US" b="1" dirty="0"/>
              <a:t>hmi_menu_core_01_logic </a:t>
            </a:r>
            <a:r>
              <a:rPr lang="en-US" b="1" dirty="0" smtClean="0"/>
              <a:t>(core file)</a:t>
            </a:r>
          </a:p>
          <a:p>
            <a:pPr lvl="1"/>
            <a:r>
              <a:rPr lang="en-US" b="1" dirty="0" smtClean="0"/>
              <a:t>hmi_menu_core_01_chart</a:t>
            </a:r>
          </a:p>
          <a:p>
            <a:pPr lvl="1"/>
            <a:r>
              <a:rPr lang="en-US" b="1" dirty="0"/>
              <a:t>hmi_menu_core_01_model_autocode</a:t>
            </a:r>
            <a:endParaRPr lang="en-US" b="1" dirty="0" smtClean="0"/>
          </a:p>
          <a:p>
            <a:r>
              <a:rPr lang="en-US" b="1" dirty="0" err="1" smtClean="0"/>
              <a:t>Init</a:t>
            </a:r>
            <a:r>
              <a:rPr lang="en-US" b="1" dirty="0" smtClean="0"/>
              <a:t> and </a:t>
            </a:r>
            <a:r>
              <a:rPr lang="en-US" b="1" dirty="0" err="1" smtClean="0"/>
              <a:t>sched</a:t>
            </a:r>
            <a:r>
              <a:rPr lang="en-US" b="1" dirty="0" smtClean="0"/>
              <a:t> needs</a:t>
            </a:r>
          </a:p>
          <a:p>
            <a:pPr lvl="1"/>
            <a:r>
              <a:rPr lang="en-US" b="1" dirty="0" err="1" smtClean="0"/>
              <a:t>hmi_menu_initialize</a:t>
            </a:r>
            <a:r>
              <a:rPr lang="en-US" b="1" dirty="0" smtClean="0"/>
              <a:t>() </a:t>
            </a:r>
            <a:r>
              <a:rPr lang="en-US" b="1" dirty="0"/>
              <a:t>to be called </a:t>
            </a:r>
            <a:r>
              <a:rPr lang="en-US" b="1" dirty="0" smtClean="0"/>
              <a:t>during startup</a:t>
            </a:r>
          </a:p>
          <a:p>
            <a:r>
              <a:rPr lang="en-US" b="1" dirty="0" smtClean="0"/>
              <a:t>To activate/deactivate Menu, use following </a:t>
            </a:r>
            <a:r>
              <a:rPr lang="en-US" b="1" dirty="0" smtClean="0"/>
              <a:t>API</a:t>
            </a:r>
            <a:endParaRPr lang="en-US" b="1" dirty="0" smtClean="0"/>
          </a:p>
          <a:p>
            <a:pPr lvl="1"/>
            <a:r>
              <a:rPr lang="en-US" b="1" dirty="0" err="1" smtClean="0"/>
              <a:t>hmi_menu_logic_Menu_Open</a:t>
            </a:r>
            <a:endParaRPr lang="en-US" b="1" dirty="0"/>
          </a:p>
          <a:p>
            <a:pPr lvl="1"/>
            <a:r>
              <a:rPr lang="en-US" b="1" dirty="0" err="1" smtClean="0"/>
              <a:t>hmi_menu_logic_Menu_Close</a:t>
            </a:r>
            <a:endParaRPr lang="en-US" b="1" dirty="0"/>
          </a:p>
          <a:p>
            <a:pPr lvl="1"/>
            <a:endParaRPr lang="en-US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24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0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steonCleanTemplate_3-12-1">
  <a:themeElements>
    <a:clrScheme name="VisteonCleanTemplate_3-12-1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EAEAEA"/>
      </a:accent1>
      <a:accent2>
        <a:srgbClr val="C0C0C0"/>
      </a:accent2>
      <a:accent3>
        <a:srgbClr val="FFFFFF"/>
      </a:accent3>
      <a:accent4>
        <a:srgbClr val="000000"/>
      </a:accent4>
      <a:accent5>
        <a:srgbClr val="F3F3F3"/>
      </a:accent5>
      <a:accent6>
        <a:srgbClr val="AEAEAE"/>
      </a:accent6>
      <a:hlink>
        <a:srgbClr val="4D4D4D"/>
      </a:hlink>
      <a:folHlink>
        <a:srgbClr val="F3901D"/>
      </a:folHlink>
    </a:clrScheme>
    <a:fontScheme name="VisteonCleanTemplate_3-12-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lnDef>
  </a:objectDefaults>
  <a:extraClrSchemeLst>
    <a:extraClrScheme>
      <a:clrScheme name="VisteonCleanTemplate_3-12-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AEAEAE"/>
        </a:accent6>
        <a:hlink>
          <a:srgbClr val="4D4D4D"/>
        </a:hlink>
        <a:folHlink>
          <a:srgbClr val="F390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Visteon_BOD_Template">
  <a:themeElements>
    <a:clrScheme name="1_Visteon_Clean_Templat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EAEAEA"/>
      </a:accent1>
      <a:accent2>
        <a:srgbClr val="C0C0C0"/>
      </a:accent2>
      <a:accent3>
        <a:srgbClr val="FFFFFF"/>
      </a:accent3>
      <a:accent4>
        <a:srgbClr val="000000"/>
      </a:accent4>
      <a:accent5>
        <a:srgbClr val="F3F3F3"/>
      </a:accent5>
      <a:accent6>
        <a:srgbClr val="AEAEAE"/>
      </a:accent6>
      <a:hlink>
        <a:srgbClr val="4D4D4D"/>
      </a:hlink>
      <a:folHlink>
        <a:srgbClr val="F3901D"/>
      </a:folHlink>
    </a:clrScheme>
    <a:fontScheme name="1_Visteon_Clea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Visteon_Clean_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AEAEAE"/>
        </a:accent6>
        <a:hlink>
          <a:srgbClr val="4D4D4D"/>
        </a:hlink>
        <a:folHlink>
          <a:srgbClr val="F390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663</Words>
  <Application>Microsoft Office PowerPoint</Application>
  <PresentationFormat>On-screen Show (4:3)</PresentationFormat>
  <Paragraphs>168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VisteonCleanTemplate_3-12-1</vt:lpstr>
      <vt:lpstr>VC Template</vt:lpstr>
      <vt:lpstr>1_VC Template</vt:lpstr>
      <vt:lpstr>1_Visteon_BOD_Template</vt:lpstr>
      <vt:lpstr>ui.iceapple Menu core </vt:lpstr>
      <vt:lpstr>Agenda</vt:lpstr>
      <vt:lpstr>Overview of Menu Core </vt:lpstr>
      <vt:lpstr>Types of Menu</vt:lpstr>
      <vt:lpstr>Menu Item Entry Type</vt:lpstr>
      <vt:lpstr>Menu Item Configuration </vt:lpstr>
      <vt:lpstr>Menu Rebuild</vt:lpstr>
      <vt:lpstr>Menu Reload</vt:lpstr>
      <vt:lpstr>Multi Instance</vt:lpstr>
      <vt:lpstr>Other Menu Features</vt:lpstr>
      <vt:lpstr>Other Menu Features</vt:lpstr>
      <vt:lpstr>Menu Core - Typical Example</vt:lpstr>
      <vt:lpstr>Menu Core - Typical Example</vt:lpstr>
      <vt:lpstr>Menu Core - Navigation</vt:lpstr>
      <vt:lpstr>Menu Core - Navigation</vt:lpstr>
      <vt:lpstr>Menu Core - Navigation</vt:lpstr>
      <vt:lpstr>Menu Core - Navigation</vt:lpstr>
      <vt:lpstr>Menu Core Context with Iceapple</vt:lpstr>
      <vt:lpstr>General Workflow</vt:lpstr>
      <vt:lpstr>General Workflow of Menu</vt:lpstr>
      <vt:lpstr>Menu Design in GDT</vt:lpstr>
      <vt:lpstr>Configuration in Menu Configurator</vt:lpstr>
      <vt:lpstr>Integrating Menu core</vt:lpstr>
      <vt:lpstr>Final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Devi, Aruna (A.)</dc:creator>
  <cp:lastModifiedBy>Anitha</cp:lastModifiedBy>
  <cp:revision>87</cp:revision>
  <dcterms:created xsi:type="dcterms:W3CDTF">2015-03-24T11:00:58Z</dcterms:created>
  <dcterms:modified xsi:type="dcterms:W3CDTF">2015-03-26T07:12:41Z</dcterms:modified>
</cp:coreProperties>
</file>